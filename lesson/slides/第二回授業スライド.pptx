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68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1" r:id="rId12"/>
    <p:sldId id="300" r:id="rId13"/>
    <p:sldId id="302" r:id="rId14"/>
  </p:sldIdLst>
  <p:sldSz cx="9144000" cy="6858000" type="screen4x3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8" userDrawn="1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村木裕一郎" initials="Y.M" lastIdx="1" clrIdx="0"/>
  <p:cmAuthor id="1" name="yusuke harashima" initials="yh" lastIdx="1" clrIdx="1">
    <p:extLst>
      <p:ext uri="{19B8F6BF-5375-455C-9EA6-DF929625EA0E}">
        <p15:presenceInfo xmlns:p15="http://schemas.microsoft.com/office/powerpoint/2012/main" userId="7ba0a926a3f341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3E74C3"/>
    <a:srgbClr val="D4EBF1"/>
    <a:srgbClr val="0D0D0D"/>
    <a:srgbClr val="4A85CD"/>
    <a:srgbClr val="FFFFFF"/>
    <a:srgbClr val="4D89D0"/>
    <a:srgbClr val="79ACDA"/>
    <a:srgbClr val="FFCC00"/>
    <a:srgbClr val="C0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73723" autoAdjust="0"/>
  </p:normalViewPr>
  <p:slideViewPr>
    <p:cSldViewPr>
      <p:cViewPr varScale="1">
        <p:scale>
          <a:sx n="74" d="100"/>
          <a:sy n="74" d="100"/>
        </p:scale>
        <p:origin x="1136" y="112"/>
      </p:cViewPr>
      <p:guideLst>
        <p:guide orient="horz" pos="28"/>
        <p:guide pos="2880"/>
      </p:guideLst>
    </p:cSldViewPr>
  </p:slideViewPr>
  <p:outlineViewPr>
    <p:cViewPr>
      <p:scale>
        <a:sx n="33" d="100"/>
        <a:sy n="33" d="100"/>
      </p:scale>
      <p:origin x="0" y="3735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804" y="7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4021301" y="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r">
              <a:defRPr sz="1200"/>
            </a:lvl1pPr>
          </a:lstStyle>
          <a:p>
            <a:fld id="{8C7BBA0B-A68D-4EE2-83E5-FAFB1C656ACC}" type="datetimeFigureOut">
              <a:rPr kumimoji="1" lang="ja-JP" altLang="en-US" smtClean="0"/>
              <a:pPr/>
              <a:t>2026/9/25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6" y="972166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4021301" y="972166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r">
              <a:defRPr sz="1200"/>
            </a:lvl1pPr>
          </a:lstStyle>
          <a:p>
            <a:fld id="{24B182B5-B6A0-49CE-A2E2-968892979931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6" name="ヘッダー プレースホルダー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780" cy="513883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3844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6" y="6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301" y="6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r">
              <a:defRPr sz="1200"/>
            </a:lvl1pPr>
          </a:lstStyle>
          <a:p>
            <a:fld id="{699216BF-253C-4E27-8018-966494AB97EF}" type="datetimeFigureOut">
              <a:rPr kumimoji="1" lang="ja-JP" altLang="en-US" smtClean="0"/>
              <a:pPr/>
              <a:t>2026/9/25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57" tIns="47129" rIns="94257" bIns="47129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1" y="4861447"/>
            <a:ext cx="5679440" cy="4605576"/>
          </a:xfrm>
          <a:prstGeom prst="rect">
            <a:avLst/>
          </a:prstGeom>
        </p:spPr>
        <p:txBody>
          <a:bodyPr vert="horz" lIns="94257" tIns="47129" rIns="94257" bIns="47129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6" y="9721112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301" y="9721112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r">
              <a:defRPr sz="1200"/>
            </a:lvl1pPr>
          </a:lstStyle>
          <a:p>
            <a:fld id="{5817ECBD-6D08-43EC-82FD-B322C687D9E5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226421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98439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16338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pic>
        <p:nvPicPr>
          <p:cNvPr id="5" name="図 3" descr="C:\Users\oneda\Desktop\logo_jp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963" y="1052736"/>
            <a:ext cx="305752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2" descr="H:\共有\仕事\桧垣研PPTテンプレ\upper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6" y="0"/>
            <a:ext cx="9147176" cy="5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51520" y="1052736"/>
            <a:ext cx="3528392" cy="4709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5" y="548680"/>
            <a:ext cx="8712200" cy="566640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0"/>
            <a:ext cx="8569325" cy="548680"/>
          </a:xfrm>
        </p:spPr>
        <p:txBody>
          <a:bodyPr/>
          <a:lstStyle>
            <a:lvl1pPr>
              <a:defRPr u="none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10"/>
          </p:nvPr>
        </p:nvSpPr>
        <p:spPr>
          <a:xfrm>
            <a:off x="1" y="6357958"/>
            <a:ext cx="9144000" cy="500042"/>
          </a:xfrm>
        </p:spPr>
        <p:txBody>
          <a:bodyPr/>
          <a:lstStyle>
            <a:lvl1pPr algn="ctr">
              <a:buFontTx/>
              <a:buNone/>
              <a:defRPr b="1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algn="ctr">
              <a:buFontTx/>
              <a:buNone/>
              <a:defRPr>
                <a:solidFill>
                  <a:schemeClr val="bg1"/>
                </a:solidFill>
              </a:defRPr>
            </a:lvl2pPr>
            <a:lvl3pPr algn="ctr">
              <a:buFontTx/>
              <a:buNone/>
              <a:defRPr>
                <a:solidFill>
                  <a:schemeClr val="bg1"/>
                </a:solidFill>
              </a:defRPr>
            </a:lvl3pPr>
            <a:lvl4pPr algn="ctr">
              <a:buFontTx/>
              <a:buNone/>
              <a:defRPr>
                <a:solidFill>
                  <a:schemeClr val="bg1"/>
                </a:solidFill>
              </a:defRPr>
            </a:lvl4pPr>
            <a:lvl5pPr algn="ct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94173962-B6D2-4C6D-B388-98B5CF721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65303" y="81886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/</a:t>
            </a:r>
            <a:endParaRPr lang="ja-JP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857496"/>
            <a:ext cx="7772400" cy="1500187"/>
          </a:xfrm>
        </p:spPr>
        <p:txBody>
          <a:bodyPr anchor="ctr" anchorCtr="0"/>
          <a:lstStyle>
            <a:lvl1pPr marL="0" indent="0" algn="ctr">
              <a:buNone/>
              <a:defRPr sz="36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黒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79900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83125" y="981075"/>
            <a:ext cx="4279900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476672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/>
          </p:nvPr>
        </p:nvSpPr>
        <p:spPr>
          <a:xfrm>
            <a:off x="250825" y="548680"/>
            <a:ext cx="8712200" cy="864096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1"/>
          </p:nvPr>
        </p:nvSpPr>
        <p:spPr>
          <a:xfrm>
            <a:off x="251520" y="1412776"/>
            <a:ext cx="4392488" cy="532859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2"/>
          </p:nvPr>
        </p:nvSpPr>
        <p:spPr>
          <a:xfrm>
            <a:off x="4644008" y="1412776"/>
            <a:ext cx="4320480" cy="532859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84975" y="185738"/>
            <a:ext cx="2178050" cy="648493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185738"/>
            <a:ext cx="6381750" cy="64849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611188" y="996950"/>
            <a:ext cx="3848100" cy="4953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611688" y="996950"/>
            <a:ext cx="3848100" cy="24003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4611688" y="3549650"/>
            <a:ext cx="3848100" cy="24003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-24"/>
            <a:ext cx="8569325" cy="548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pic>
        <p:nvPicPr>
          <p:cNvPr id="7" name="Picture 2" descr="C:\Users\Takehiro Kawai\Documents\研究室\under_no.png"/>
          <p:cNvPicPr>
            <a:picLocks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6741367"/>
            <a:ext cx="9143999" cy="144000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20688"/>
            <a:ext cx="8712200" cy="604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err="1"/>
              <a:t>あどほっく</a:t>
            </a:r>
            <a:r>
              <a:rPr lang="ja-JP" altLang="en-US" dirty="0"/>
              <a:t>ねっと</a:t>
            </a:r>
            <a:r>
              <a:rPr lang="ja-JP" altLang="en-US" dirty="0" err="1"/>
              <a:t>わー</a:t>
            </a:r>
            <a:r>
              <a:rPr lang="ja-JP" altLang="en-US" dirty="0"/>
              <a:t>くってなに？</a:t>
            </a:r>
          </a:p>
          <a:p>
            <a:pPr lvl="1"/>
            <a:r>
              <a:rPr lang="ja-JP" altLang="en-US" dirty="0"/>
              <a:t>きっとじつようかされない</a:t>
            </a:r>
          </a:p>
          <a:p>
            <a:pPr lvl="2"/>
            <a:r>
              <a:rPr lang="ja-JP" altLang="en-US" dirty="0"/>
              <a:t>がんばれ</a:t>
            </a:r>
          </a:p>
          <a:p>
            <a:pPr lvl="3"/>
            <a:r>
              <a:rPr lang="ja-JP" altLang="en-US" dirty="0"/>
              <a:t>がんばれ</a:t>
            </a:r>
          </a:p>
          <a:p>
            <a:pPr lvl="4"/>
            <a:r>
              <a:rPr lang="ja-JP" altLang="en-US" dirty="0"/>
              <a:t>めがね</a:t>
            </a:r>
          </a:p>
        </p:txBody>
      </p:sp>
      <p:pic>
        <p:nvPicPr>
          <p:cNvPr id="8" name="図 2" descr="H:\共有\仕事\桧垣研PPTテンプレ\upper.png"/>
          <p:cNvPicPr>
            <a:picLocks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9145305" cy="5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10044608" y="245365"/>
            <a:ext cx="92551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fld id="{32C65B3F-ECF2-4CE7-B960-343D94B4668B}" type="slidenum">
              <a:rPr lang="en-US" altLang="ja-JP" sz="1800" smtClean="0">
                <a:solidFill>
                  <a:schemeClr val="bg1"/>
                </a:solidFill>
              </a:rPr>
              <a:pPr>
                <a:spcBef>
                  <a:spcPct val="50000"/>
                </a:spcBef>
                <a:defRPr/>
              </a:pPr>
              <a:t>‹#›</a:t>
            </a:fld>
            <a:r>
              <a:rPr lang="en-US" altLang="ja-JP" sz="18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D716CE9-507E-40EA-A884-A59300959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44408" y="91765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/</a:t>
            </a:r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75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6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u="none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60000"/>
            <a:lumOff val="40000"/>
          </a:schemeClr>
        </a:buClr>
        <a:buSzPct val="100000"/>
        <a:buFont typeface="Wingdings" pitchFamily="2" charset="2"/>
        <a:buChar char="n"/>
        <a:defRPr kumimoji="1" sz="24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Arial" charset="0"/>
        <a:buChar char="–"/>
        <a:defRPr kumimoji="1" sz="2200">
          <a:solidFill>
            <a:schemeClr val="tx1"/>
          </a:solidFill>
          <a:latin typeface="+mj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200">
          <a:solidFill>
            <a:schemeClr val="tx1"/>
          </a:solidFill>
          <a:latin typeface="+mj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200">
          <a:solidFill>
            <a:schemeClr val="tx1"/>
          </a:solidFill>
          <a:latin typeface="+mj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200">
          <a:solidFill>
            <a:schemeClr val="tx1"/>
          </a:solidFill>
          <a:latin typeface="+mj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/>
          <a:lstStyle/>
          <a:p>
            <a:r>
              <a:rPr lang="ja-JP" altLang="en-US" sz="3200" dirty="0"/>
              <a:t>車車間通信を用いた衝突回避実験</a:t>
            </a:r>
            <a:endParaRPr lang="en-US" altLang="ja-JP" sz="32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第２回：無線通信プロトコルの基礎</a:t>
            </a:r>
            <a:endParaRPr lang="en-US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Espressif社が開発した無線通信プロトコル</a:t>
            </a:r>
            <a:endParaRPr lang="en-US" altLang="ja-JP" dirty="0"/>
          </a:p>
          <a:p>
            <a:pPr lvl="1"/>
            <a:r>
              <a:rPr lang="ja-JP" altLang="en-US" dirty="0"/>
              <a:t>Wi-Fiの物理層・MAC層を利用する</a:t>
            </a:r>
            <a:endParaRPr lang="en-US" altLang="ja-JP" dirty="0"/>
          </a:p>
          <a:p>
            <a:pPr lvl="1"/>
            <a:r>
              <a:rPr lang="ja-JP" altLang="en-US" dirty="0"/>
              <a:t>APやルータを介さず，端末間で直接通信する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Wi-Fiの電波を利用するが，IPアドレスやTCP・UDPを使った一般的なネットワーク通信とは異なる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ESP-NOWとは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Wi-Fiを利用した端末間通信</a:t>
            </a:r>
            <a:endParaRPr lang="en-US" altLang="ja-JP" dirty="0"/>
          </a:p>
          <a:p>
            <a:r>
              <a:rPr lang="ja-JP" altLang="en-US" dirty="0"/>
              <a:t>AP・ルータ不要</a:t>
            </a:r>
            <a:endParaRPr lang="en-US" altLang="ja-JP" dirty="0"/>
          </a:p>
          <a:p>
            <a:r>
              <a:rPr lang="ja-JP" altLang="en-US" dirty="0"/>
              <a:t>MACアドレスを用いて通信相手を指定</a:t>
            </a:r>
            <a:endParaRPr lang="en-US" altLang="ja-JP" dirty="0"/>
          </a:p>
          <a:p>
            <a:r>
              <a:rPr lang="ja-JP" altLang="en-US" dirty="0"/>
              <a:t>送信データはバイト列</a:t>
            </a:r>
            <a:endParaRPr lang="en-US" altLang="ja-JP" dirty="0"/>
          </a:p>
          <a:p>
            <a:r>
              <a:rPr lang="ja-JP" altLang="en-US" dirty="0"/>
              <a:t>送受信時にコールバック関数を利用</a:t>
            </a:r>
            <a:endParaRPr lang="en-US" altLang="ja-JP" dirty="0"/>
          </a:p>
          <a:p>
            <a:endParaRPr kumimoji="1" lang="en-US" altLang="ja-JP" dirty="0"/>
          </a:p>
          <a:p>
            <a:pPr lvl="1"/>
            <a:r>
              <a:rPr lang="ja-JP" altLang="en-US" dirty="0"/>
              <a:t>受信時には，データを受け取ったタイミングであらかじめ登録したコールバック関数が呼び出される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2/12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en-US" altLang="ja-JP" dirty="0"/>
              <a:t>Wi-Fi</a:t>
            </a:r>
            <a:r>
              <a:rPr lang="ja-JP" altLang="en-US" dirty="0"/>
              <a:t>との違い</a:t>
            </a:r>
            <a:endParaRPr lang="en-US" altLang="ja-JP" dirty="0"/>
          </a:p>
          <a:p>
            <a:pPr lvl="1"/>
            <a:r>
              <a:rPr lang="ja-JP" altLang="en-US" dirty="0"/>
              <a:t>通常のWi-Fi通信</a:t>
            </a:r>
            <a:endParaRPr lang="en-US" altLang="ja-JP" dirty="0"/>
          </a:p>
          <a:p>
            <a:pPr lvl="2"/>
            <a:r>
              <a:rPr lang="ja-JP" altLang="en-US" dirty="0"/>
              <a:t>AP・ルータを介して通信</a:t>
            </a:r>
            <a:endParaRPr lang="en-US" altLang="ja-JP" dirty="0"/>
          </a:p>
          <a:p>
            <a:pPr lvl="2"/>
            <a:r>
              <a:rPr lang="ja-JP" altLang="en-US" dirty="0"/>
              <a:t>IPアドレスを利用</a:t>
            </a:r>
            <a:endParaRPr lang="en-US" altLang="ja-JP" dirty="0"/>
          </a:p>
          <a:p>
            <a:pPr lvl="2"/>
            <a:r>
              <a:rPr lang="ja-JP" altLang="en-US" dirty="0"/>
              <a:t>TCP / UDP などを利用</a:t>
            </a:r>
            <a:endParaRPr lang="en-US" altLang="ja-JP" dirty="0"/>
          </a:p>
          <a:p>
            <a:pPr lvl="2"/>
            <a:r>
              <a:rPr lang="ja-JP" altLang="en-US" dirty="0"/>
              <a:t>ネットワーク通信</a:t>
            </a:r>
            <a:endParaRPr kumimoji="1" lang="en-US" altLang="ja-JP" dirty="0"/>
          </a:p>
          <a:p>
            <a:pPr lvl="1"/>
            <a:r>
              <a:rPr lang="ja-JP" altLang="en-US" dirty="0"/>
              <a:t>ESP-NOW</a:t>
            </a:r>
            <a:endParaRPr lang="en-US" altLang="ja-JP" dirty="0"/>
          </a:p>
          <a:p>
            <a:pPr lvl="2"/>
            <a:r>
              <a:rPr lang="ja-JP" altLang="en-US" dirty="0"/>
              <a:t>端末間で直接通信</a:t>
            </a:r>
            <a:endParaRPr lang="en-US" altLang="ja-JP" dirty="0"/>
          </a:p>
          <a:p>
            <a:pPr lvl="2"/>
            <a:r>
              <a:rPr lang="ja-JP" altLang="en-US" dirty="0"/>
              <a:t>MACアドレスを利用</a:t>
            </a:r>
            <a:endParaRPr lang="en-US" altLang="ja-JP" dirty="0"/>
          </a:p>
          <a:p>
            <a:pPr lvl="2"/>
            <a:r>
              <a:rPr lang="ja-JP" altLang="en-US" dirty="0"/>
              <a:t>MAC層の仕組みを利用</a:t>
            </a:r>
            <a:endParaRPr lang="en-US" altLang="ja-JP" dirty="0"/>
          </a:p>
          <a:p>
            <a:pPr lvl="2"/>
            <a:r>
              <a:rPr lang="ja-JP" altLang="en-US" dirty="0"/>
              <a:t>低レイヤの通信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3/12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en-US" altLang="ja-JP" dirty="0"/>
              <a:t>OSI</a:t>
            </a:r>
            <a:r>
              <a:rPr lang="ja-JP" altLang="en-US" dirty="0"/>
              <a:t>参照モデルと</a:t>
            </a:r>
            <a:r>
              <a:rPr lang="en-US" altLang="ja-JP" dirty="0"/>
              <a:t>ESP-NOW</a:t>
            </a:r>
          </a:p>
          <a:p>
            <a:pPr lvl="1"/>
            <a:r>
              <a:rPr lang="ja-JP" altLang="en-US" dirty="0"/>
              <a:t>7. アプリケーション層</a:t>
            </a:r>
            <a:endParaRPr lang="en-US" altLang="ja-JP" dirty="0"/>
          </a:p>
          <a:p>
            <a:pPr lvl="1"/>
            <a:r>
              <a:rPr lang="ja-JP" altLang="en-US" dirty="0"/>
              <a:t>6. プレゼンテーション層</a:t>
            </a:r>
            <a:endParaRPr lang="en-US" altLang="ja-JP" dirty="0"/>
          </a:p>
          <a:p>
            <a:pPr lvl="1"/>
            <a:r>
              <a:rPr lang="ja-JP" altLang="en-US" dirty="0"/>
              <a:t>5. セッション層</a:t>
            </a:r>
            <a:endParaRPr lang="en-US" altLang="ja-JP" dirty="0"/>
          </a:p>
          <a:p>
            <a:pPr lvl="1"/>
            <a:r>
              <a:rPr lang="ja-JP" altLang="en-US" dirty="0"/>
              <a:t>4. トランスポート層</a:t>
            </a:r>
            <a:endParaRPr lang="en-US" altLang="ja-JP" dirty="0"/>
          </a:p>
          <a:p>
            <a:pPr lvl="1"/>
            <a:r>
              <a:rPr lang="ja-JP" altLang="en-US" dirty="0"/>
              <a:t>3. ネットワーク層</a:t>
            </a:r>
            <a:endParaRPr lang="en-US" altLang="ja-JP" dirty="0"/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2. データリンク層　← ESP-NOW（MAC層を利用）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ja-JP" altLang="en-US" dirty="0">
                <a:solidFill>
                  <a:srgbClr val="FF0000"/>
                </a:solidFill>
              </a:rPr>
              <a:t>1. 物理層　← Wi-Fiを利用</a:t>
            </a:r>
            <a:endParaRPr kumimoji="1" lang="en-US" altLang="ja-JP" dirty="0"/>
          </a:p>
          <a:p>
            <a:pPr lvl="2"/>
            <a:r>
              <a:rPr lang="ja-JP" altLang="en-US" dirty="0"/>
              <a:t>IP / TCP / UDP は使用しない</a:t>
            </a:r>
            <a:r>
              <a:rPr lang="en-US" altLang="ja-JP" dirty="0"/>
              <a:t>	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4/12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ESP-NOW通信の基本構成</a:t>
            </a:r>
            <a:endParaRPr lang="en-US" altLang="ja-JP" dirty="0"/>
          </a:p>
          <a:p>
            <a:pPr lvl="1"/>
            <a:r>
              <a:rPr lang="ja-JP" altLang="en-US" dirty="0"/>
              <a:t>ESP32 A と ESP32 B の間でデータを直接送受信する</a:t>
            </a:r>
            <a:endParaRPr lang="en-US" altLang="ja-JP" dirty="0"/>
          </a:p>
          <a:p>
            <a:pPr lvl="1"/>
            <a:r>
              <a:rPr lang="ja-JP" altLang="en-US" dirty="0"/>
              <a:t>MACアドレスで通信相手を指定する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ja-JP" altLang="en-US" dirty="0"/>
              <a:t>通信相手を Peer として登録</a:t>
            </a:r>
            <a:endParaRPr lang="en-US" altLang="ja-JP" dirty="0"/>
          </a:p>
          <a:p>
            <a:pPr lvl="2"/>
            <a:r>
              <a:rPr lang="ja-JP" altLang="en-US" dirty="0"/>
              <a:t>Peer の MAC アドレスを指定する</a:t>
            </a:r>
            <a:endParaRPr lang="en-US" altLang="ja-JP" dirty="0"/>
          </a:p>
          <a:p>
            <a:pPr lvl="2"/>
            <a:r>
              <a:rPr lang="ja-JP" altLang="en-US" dirty="0"/>
              <a:t>登録した Peer とデータを送受信する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5/12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en-US" altLang="ja-JP" dirty="0"/>
              <a:t>Peer</a:t>
            </a:r>
          </a:p>
          <a:p>
            <a:pPr lvl="1"/>
            <a:r>
              <a:rPr lang="ja-JP" altLang="en-US" dirty="0"/>
              <a:t>ESP-NOWで通信する相手</a:t>
            </a:r>
            <a:endParaRPr lang="en-US" altLang="ja-JP" dirty="0"/>
          </a:p>
          <a:p>
            <a:pPr lvl="2"/>
            <a:r>
              <a:rPr lang="ja-JP" altLang="en-US" dirty="0"/>
              <a:t>Peer情報としてMACアドレスなどを登録する</a:t>
            </a:r>
            <a:endParaRPr lang="en-US" altLang="ja-JP" dirty="0"/>
          </a:p>
          <a:p>
            <a:pPr lvl="2"/>
            <a:r>
              <a:rPr lang="ja-JP" altLang="en-US" dirty="0"/>
              <a:t>登録したPeerに対してデータを送信する</a:t>
            </a:r>
            <a:endParaRPr kumimoji="1" lang="en-US" altLang="ja-JP" dirty="0"/>
          </a:p>
          <a:p>
            <a:pPr lvl="1"/>
            <a:r>
              <a:rPr lang="ja-JP" altLang="en-US" dirty="0"/>
              <a:t> 送信時にどの端末へデータを送るかを，登録したPeer情報をもとに指定する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6/12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送信データ</a:t>
            </a:r>
            <a:endParaRPr lang="en-US" altLang="ja-JP" dirty="0"/>
          </a:p>
          <a:p>
            <a:pPr lvl="1"/>
            <a:r>
              <a:rPr lang="ja-JP" altLang="en-US" dirty="0"/>
              <a:t>データはバイト列として送信</a:t>
            </a:r>
            <a:endParaRPr lang="en-US" altLang="ja-JP" dirty="0"/>
          </a:p>
          <a:p>
            <a:pPr lvl="2"/>
            <a:r>
              <a:rPr lang="ja-JP" altLang="en-US" dirty="0"/>
              <a:t>uint8_t の配列として扱う</a:t>
            </a:r>
            <a:endParaRPr lang="en-US" altLang="ja-JP" dirty="0"/>
          </a:p>
          <a:p>
            <a:pPr lvl="2"/>
            <a:r>
              <a:rPr lang="ja-JP" altLang="en-US" dirty="0"/>
              <a:t>送信できるデータサイズは250Bが上限</a:t>
            </a:r>
            <a:endParaRPr kumimoji="1" lang="en-US" altLang="ja-JP" dirty="0"/>
          </a:p>
          <a:p>
            <a:pPr lvl="1"/>
            <a:r>
              <a:rPr lang="ja-JP" altLang="en-US" dirty="0"/>
              <a:t>整数や構造体を送信する場合も，最終的にはバイト列として扱う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7/12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受信コールバック関数</a:t>
            </a:r>
            <a:endParaRPr lang="en-US" altLang="ja-JP" dirty="0"/>
          </a:p>
          <a:p>
            <a:pPr lvl="1"/>
            <a:r>
              <a:rPr lang="ja-JP" altLang="en-US" dirty="0"/>
              <a:t>データ受信時に自動的に呼び出される</a:t>
            </a:r>
            <a:endParaRPr lang="en-US" altLang="ja-JP" dirty="0"/>
          </a:p>
          <a:p>
            <a:pPr lvl="2"/>
            <a:r>
              <a:rPr lang="ja-JP" altLang="en-US" dirty="0"/>
              <a:t>受信データはバイト列（uint8_t）</a:t>
            </a:r>
            <a:endParaRPr lang="en-US" altLang="ja-JP" dirty="0"/>
          </a:p>
          <a:p>
            <a:pPr lvl="2"/>
            <a:r>
              <a:rPr lang="ja-JP" altLang="en-US" dirty="0"/>
              <a:t>コールバック関数内で受信処理を行う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3"/>
            <a:r>
              <a:rPr lang="ja-JP" altLang="en-US" dirty="0">
                <a:latin typeface="Courier New"/>
                <a:cs typeface="Courier New"/>
              </a:rPr>
              <a:t>void OnDataRecv(</a:t>
            </a:r>
            <a:endParaRPr lang="en-US" altLang="ja-JP" dirty="0"/>
          </a:p>
          <a:p>
            <a:pPr lvl="3"/>
            <a:r>
              <a:rPr lang="ja-JP" altLang="en-US" dirty="0">
                <a:latin typeface="Courier New"/>
                <a:cs typeface="Courier New"/>
              </a:rPr>
              <a:t>    const uint8_t *mac,</a:t>
            </a:r>
            <a:endParaRPr lang="en-US" altLang="ja-JP" dirty="0"/>
          </a:p>
          <a:p>
            <a:pPr lvl="3"/>
            <a:r>
              <a:rPr lang="ja-JP" altLang="en-US" dirty="0">
                <a:latin typeface="Courier New"/>
                <a:cs typeface="Courier New"/>
              </a:rPr>
              <a:t>    const uint8_t *data,</a:t>
            </a:r>
            <a:endParaRPr lang="en-US" altLang="ja-JP" dirty="0"/>
          </a:p>
          <a:p>
            <a:pPr lvl="3"/>
            <a:r>
              <a:rPr lang="ja-JP" altLang="en-US" dirty="0">
                <a:latin typeface="Courier New"/>
                <a:cs typeface="Courier New"/>
              </a:rPr>
              <a:t>    int len</a:t>
            </a:r>
            <a:endParaRPr lang="en-US" altLang="ja-JP" dirty="0"/>
          </a:p>
          <a:p>
            <a:pPr lvl="3"/>
            <a:r>
              <a:rPr lang="ja-JP" altLang="en-US" dirty="0">
                <a:latin typeface="Courier New"/>
                <a:cs typeface="Courier New"/>
              </a:rPr>
              <a:t>)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8/12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ESP-NOWの処理の流れ</a:t>
            </a:r>
            <a:endParaRPr lang="en-US" altLang="ja-JP" dirty="0"/>
          </a:p>
          <a:p>
            <a:pPr lvl="1"/>
            <a:r>
              <a:rPr lang="ja-JP" altLang="en-US" dirty="0"/>
              <a:t>Wi-Fi設定</a:t>
            </a:r>
            <a:endParaRPr lang="en-US" altLang="ja-JP" dirty="0"/>
          </a:p>
          <a:p>
            <a:pPr lvl="1"/>
            <a:r>
              <a:rPr lang="ja-JP" altLang="en-US" dirty="0"/>
              <a:t>ESP-NOW初期化</a:t>
            </a:r>
            <a:endParaRPr lang="en-US" altLang="ja-JP" dirty="0"/>
          </a:p>
          <a:p>
            <a:pPr lvl="1"/>
            <a:r>
              <a:rPr lang="ja-JP" altLang="en-US" dirty="0"/>
              <a:t>Peer登録</a:t>
            </a:r>
            <a:endParaRPr lang="en-US" altLang="ja-JP" dirty="0"/>
          </a:p>
          <a:p>
            <a:pPr lvl="1"/>
            <a:r>
              <a:rPr lang="ja-JP" altLang="en-US" dirty="0"/>
              <a:t>コールバック登録</a:t>
            </a:r>
            <a:endParaRPr lang="en-US" altLang="ja-JP" dirty="0"/>
          </a:p>
          <a:p>
            <a:pPr lvl="1"/>
            <a:r>
              <a:rPr lang="ja-JP" altLang="en-US" dirty="0"/>
              <a:t>データ送受信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ESP-NOWの特徴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9/12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ESP-NOWの全体像</a:t>
            </a:r>
            <a:endParaRPr lang="en-US" altLang="ja-JP" dirty="0"/>
          </a:p>
          <a:p>
            <a:pPr lvl="1"/>
            <a:r>
              <a:rPr lang="ja-JP" altLang="en-US" dirty="0"/>
              <a:t>Wi-Fi設定　WiFi.mode()</a:t>
            </a:r>
            <a:endParaRPr lang="en-US" altLang="ja-JP" dirty="0"/>
          </a:p>
          <a:p>
            <a:pPr lvl="1"/>
            <a:r>
              <a:rPr lang="ja-JP" altLang="en-US" dirty="0"/>
              <a:t>ESP-NOW初期化　esp_now_init()</a:t>
            </a:r>
            <a:endParaRPr lang="en-US" altLang="ja-JP" dirty="0"/>
          </a:p>
          <a:p>
            <a:pPr lvl="1"/>
            <a:r>
              <a:rPr lang="ja-JP" altLang="en-US" dirty="0"/>
              <a:t>Peer登録　esp_now_add_peer()</a:t>
            </a:r>
            <a:endParaRPr lang="en-US" altLang="ja-JP" dirty="0"/>
          </a:p>
          <a:p>
            <a:pPr lvl="1"/>
            <a:r>
              <a:rPr lang="ja-JP" altLang="en-US" dirty="0"/>
              <a:t>受信コールバック登録　esp_now_register_recv_cb()</a:t>
            </a:r>
            <a:endParaRPr lang="en-US" altLang="ja-JP" dirty="0"/>
          </a:p>
          <a:p>
            <a:pPr lvl="1"/>
            <a:r>
              <a:rPr lang="ja-JP" altLang="en-US" dirty="0"/>
              <a:t>データ送受信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この一連の流れを理解しておくと，基本コードを読む際に目的が追いやすくなる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ESP-NOWの全体像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10/12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今回使用する関数</a:t>
            </a:r>
            <a:endParaRPr lang="en-US" altLang="ja-JP" dirty="0">
              <a:cs typeface="Courier New"/>
            </a:endParaRPr>
          </a:p>
          <a:p>
            <a:pPr lvl="1"/>
            <a:r>
              <a:rPr lang="ja-JP" altLang="en-US" dirty="0">
                <a:cs typeface="Courier New"/>
              </a:rPr>
              <a:t>WiFi.mode()</a:t>
            </a:r>
            <a:endParaRPr lang="en-US" altLang="ja-JP" dirty="0"/>
          </a:p>
          <a:p>
            <a:pPr lvl="2"/>
            <a:r>
              <a:rPr lang="ja-JP" altLang="en-US" dirty="0"/>
              <a:t>Wi-Fiモードを設定する</a:t>
            </a:r>
            <a:endParaRPr lang="en-US" altLang="ja-JP" dirty="0"/>
          </a:p>
          <a:p>
            <a:pPr lvl="1"/>
            <a:r>
              <a:rPr lang="ja-JP" altLang="en-US" dirty="0">
                <a:cs typeface="Courier New"/>
              </a:rPr>
              <a:t>esp_now_init()</a:t>
            </a:r>
            <a:endParaRPr lang="en-US" altLang="ja-JP" dirty="0"/>
          </a:p>
          <a:p>
            <a:pPr lvl="2"/>
            <a:r>
              <a:rPr lang="ja-JP" altLang="en-US" dirty="0"/>
              <a:t>ESP-NOWを初期化する</a:t>
            </a:r>
            <a:endParaRPr lang="en-US" altLang="ja-JP" dirty="0"/>
          </a:p>
          <a:p>
            <a:pPr lvl="1"/>
            <a:r>
              <a:rPr lang="ja-JP" altLang="en-US" dirty="0">
                <a:cs typeface="Courier New"/>
              </a:rPr>
              <a:t>esp_now_peer_info_t</a:t>
            </a:r>
            <a:endParaRPr lang="en-US" altLang="ja-JP" dirty="0"/>
          </a:p>
          <a:p>
            <a:pPr lvl="2"/>
            <a:r>
              <a:rPr lang="ja-JP" altLang="en-US" dirty="0"/>
              <a:t>Peer情報を保持する</a:t>
            </a:r>
            <a:endParaRPr lang="en-US" altLang="ja-JP" dirty="0"/>
          </a:p>
          <a:p>
            <a:pPr lvl="1"/>
            <a:r>
              <a:rPr lang="ja-JP" altLang="en-US" dirty="0">
                <a:cs typeface="Courier New"/>
              </a:rPr>
              <a:t>esp_now_add_peer()</a:t>
            </a:r>
            <a:endParaRPr lang="en-US" altLang="ja-JP" dirty="0"/>
          </a:p>
          <a:p>
            <a:pPr lvl="2"/>
            <a:r>
              <a:rPr lang="ja-JP" altLang="en-US" dirty="0"/>
              <a:t>Peerを登録する</a:t>
            </a:r>
            <a:endParaRPr lang="en-US" altLang="ja-JP" dirty="0"/>
          </a:p>
          <a:p>
            <a:pPr lvl="1"/>
            <a:r>
              <a:rPr lang="ja-JP" altLang="en-US" dirty="0">
                <a:cs typeface="Courier New"/>
              </a:rPr>
              <a:t>esp_now_register_recv_cb()</a:t>
            </a:r>
            <a:endParaRPr lang="en-US" altLang="ja-JP" dirty="0"/>
          </a:p>
          <a:p>
            <a:pPr lvl="2"/>
            <a:r>
              <a:rPr lang="ja-JP" altLang="en-US" dirty="0"/>
              <a:t>受信コールバックを登録する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今回使用する関数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11/12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まとめ</a:t>
            </a:r>
            <a:endParaRPr lang="en-US" altLang="ja-JP" dirty="0"/>
          </a:p>
          <a:p>
            <a:pPr lvl="1"/>
            <a:r>
              <a:rPr lang="ja-JP" altLang="en-US" dirty="0"/>
              <a:t>ESP-NOWはWi-Fiを利用した低レイヤの端末間通信</a:t>
            </a:r>
            <a:endParaRPr lang="en-US" altLang="ja-JP" dirty="0"/>
          </a:p>
          <a:p>
            <a:pPr lvl="1"/>
            <a:r>
              <a:rPr lang="ja-JP" altLang="en-US" dirty="0"/>
              <a:t>通信相手はPeerとしてMACアドレスを登録</a:t>
            </a:r>
            <a:endParaRPr lang="en-US" altLang="ja-JP" dirty="0"/>
          </a:p>
          <a:p>
            <a:pPr lvl="1"/>
            <a:r>
              <a:rPr lang="ja-JP" altLang="en-US" dirty="0"/>
              <a:t>データはバイト列として送受信</a:t>
            </a:r>
            <a:endParaRPr lang="en-US" altLang="ja-JP" dirty="0"/>
          </a:p>
          <a:p>
            <a:pPr lvl="1"/>
            <a:r>
              <a:rPr lang="ja-JP" altLang="en-US" dirty="0"/>
              <a:t>受信時はコールバック関数で処理</a:t>
            </a:r>
            <a:endParaRPr lang="en-US" altLang="ja-JP" dirty="0"/>
          </a:p>
          <a:p>
            <a:pPr lvl="1"/>
            <a:r>
              <a:rPr lang="ja-JP" altLang="en-US" dirty="0"/>
              <a:t>主な処理：初期化 → Peer登録 → コールバック登録 → 通信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まとめ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12/12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theme/theme1.xml><?xml version="1.0" encoding="utf-8"?>
<a:theme xmlns:a="http://schemas.openxmlformats.org/drawingml/2006/main" name="1_標準デザイン">
  <a:themeElements>
    <a:clrScheme name="ユーザー定義 2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標準デザイン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1"/>
          </a:solidFill>
          <a:round/>
          <a:headEnd/>
          <a:tailEnd/>
        </a:ln>
      </a:spPr>
      <a:bodyPr wrap="square" lIns="90000" tIns="46800" rIns="90000" bIns="46800" anchor="ctr">
        <a:noAutofit/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ＭＳ Ｐゴシック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effectLst/>
          </a:defRPr>
        </a:defPPr>
      </a:lstStyle>
    </a:tx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00EEFE7C-116F-48B2-A9DD-EEF3189F0313}" vid="{050E564D-F4B0-4AEC-A218-D4F56E1CC75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14247</TotalTime>
  <Words>630</Words>
  <Application>Microsoft Office PowerPoint</Application>
  <PresentationFormat>画面に合わせる (4:3)</PresentationFormat>
  <Paragraphs>116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Wingdings</vt:lpstr>
      <vt:lpstr>1_標準デザイン</vt:lpstr>
      <vt:lpstr>車車間通信を用いた衝突回避実験</vt:lpstr>
      <vt:lpstr>ESP-NOWとは</vt:lpstr>
      <vt:lpstr>ESP-NOWの特徴</vt:lpstr>
      <vt:lpstr>ESP-NOWの特徴</vt:lpstr>
      <vt:lpstr>ESP-NOWの特徴</vt:lpstr>
      <vt:lpstr>ESP-NOWの特徴</vt:lpstr>
      <vt:lpstr>ESP-NOWの特徴</vt:lpstr>
      <vt:lpstr>ESP-NOWの特徴</vt:lpstr>
      <vt:lpstr>ESP-NOWの特徴</vt:lpstr>
      <vt:lpstr>ESP-NOWの特徴</vt:lpstr>
      <vt:lpstr>ESP-NOWの全体像</vt:lpstr>
      <vt:lpstr>今回使用する関数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のれい DAZU</dc:creator>
  <cp:lastModifiedBy>NAITO DAIKI</cp:lastModifiedBy>
  <cp:revision>109</cp:revision>
  <cp:lastPrinted>2025-05-16T11:39:04Z</cp:lastPrinted>
  <dcterms:created xsi:type="dcterms:W3CDTF">2025-05-02T01:57:51Z</dcterms:created>
  <dcterms:modified xsi:type="dcterms:W3CDTF">2026-09-25T02:43:21Z</dcterms:modified>
</cp:coreProperties>
</file>