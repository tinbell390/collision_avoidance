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91" r:id="rId2"/>
    <p:sldId id="292" r:id="rId3"/>
    <p:sldId id="293" r:id="rId4"/>
    <p:sldId id="294" r:id="rId5"/>
  </p:sldIdLst>
  <p:sldSz cx="9144000" cy="6858000" type="screen4x3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8" userDrawn="1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村木裕一郎" initials="Y.M" lastIdx="1" clrIdx="0"/>
  <p:cmAuthor id="1" name="yusuke harashima" initials="yh" lastIdx="1" clrIdx="1">
    <p:extLst>
      <p:ext uri="{19B8F6BF-5375-455C-9EA6-DF929625EA0E}">
        <p15:presenceInfo xmlns:p15="http://schemas.microsoft.com/office/powerpoint/2012/main" userId="7ba0a926a3f341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3E74C3"/>
    <a:srgbClr val="D4EBF1"/>
    <a:srgbClr val="0D0D0D"/>
    <a:srgbClr val="4A85CD"/>
    <a:srgbClr val="FFFFFF"/>
    <a:srgbClr val="4D89D0"/>
    <a:srgbClr val="79ACDA"/>
    <a:srgbClr val="FFCC00"/>
    <a:srgbClr val="C0B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73723" autoAdjust="0"/>
  </p:normalViewPr>
  <p:slideViewPr>
    <p:cSldViewPr>
      <p:cViewPr varScale="1">
        <p:scale>
          <a:sx n="74" d="100"/>
          <a:sy n="74" d="100"/>
        </p:scale>
        <p:origin x="1136" y="56"/>
      </p:cViewPr>
      <p:guideLst>
        <p:guide orient="horz" pos="28"/>
        <p:guide pos="2880"/>
      </p:guideLst>
    </p:cSldViewPr>
  </p:slideViewPr>
  <p:outlineViewPr>
    <p:cViewPr>
      <p:scale>
        <a:sx n="33" d="100"/>
        <a:sy n="33" d="100"/>
      </p:scale>
      <p:origin x="0" y="3735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804" y="72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4021301" y="4"/>
            <a:ext cx="3076363" cy="511321"/>
          </a:xfrm>
          <a:prstGeom prst="rect">
            <a:avLst/>
          </a:prstGeom>
        </p:spPr>
        <p:txBody>
          <a:bodyPr vert="horz" lIns="94257" tIns="47129" rIns="94257" bIns="47129" rtlCol="0"/>
          <a:lstStyle>
            <a:lvl1pPr algn="r">
              <a:defRPr sz="1200"/>
            </a:lvl1pPr>
          </a:lstStyle>
          <a:p>
            <a:fld id="{8C7BBA0B-A68D-4EE2-83E5-FAFB1C656ACC}" type="datetimeFigureOut">
              <a:rPr kumimoji="1" lang="ja-JP" altLang="en-US" smtClean="0"/>
              <a:pPr/>
              <a:t>2026/9/25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6" y="9721664"/>
            <a:ext cx="3076363" cy="511321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4021301" y="9721664"/>
            <a:ext cx="3076363" cy="511321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r">
              <a:defRPr sz="1200"/>
            </a:lvl1pPr>
          </a:lstStyle>
          <a:p>
            <a:fld id="{24B182B5-B6A0-49CE-A2E2-968892979931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6" name="ヘッダー プレースホルダー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780" cy="513883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33844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6" y="6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021301" y="6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/>
          <a:lstStyle>
            <a:lvl1pPr algn="r">
              <a:defRPr sz="1200"/>
            </a:lvl1pPr>
          </a:lstStyle>
          <a:p>
            <a:fld id="{699216BF-253C-4E27-8018-966494AB97EF}" type="datetimeFigureOut">
              <a:rPr kumimoji="1" lang="ja-JP" altLang="en-US" smtClean="0"/>
              <a:pPr/>
              <a:t>2026/9/25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57" tIns="47129" rIns="94257" bIns="47129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709931" y="4861447"/>
            <a:ext cx="5679440" cy="4605576"/>
          </a:xfrm>
          <a:prstGeom prst="rect">
            <a:avLst/>
          </a:prstGeom>
        </p:spPr>
        <p:txBody>
          <a:bodyPr vert="horz" lIns="94257" tIns="47129" rIns="94257" bIns="47129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6" y="9721112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021301" y="9721112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r">
              <a:defRPr sz="1200"/>
            </a:lvl1pPr>
          </a:lstStyle>
          <a:p>
            <a:fld id="{5817ECBD-6D08-43EC-82FD-B322C687D9E5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226421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16338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pic>
        <p:nvPicPr>
          <p:cNvPr id="5" name="図 3" descr="C:\Users\oneda\Desktop\logo_jp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963" y="1052736"/>
            <a:ext cx="305752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2" descr="H:\共有\仕事\桧垣研PPTテンプレ\upper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6" y="0"/>
            <a:ext cx="9147176" cy="5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51520" y="1052736"/>
            <a:ext cx="3528392" cy="4709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準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50825" y="548680"/>
            <a:ext cx="8712200" cy="5666402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825" y="0"/>
            <a:ext cx="8569325" cy="548680"/>
          </a:xfrm>
        </p:spPr>
        <p:txBody>
          <a:bodyPr/>
          <a:lstStyle>
            <a:lvl1pPr>
              <a:defRPr u="none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10"/>
          </p:nvPr>
        </p:nvSpPr>
        <p:spPr>
          <a:xfrm>
            <a:off x="1" y="6357958"/>
            <a:ext cx="9144000" cy="500042"/>
          </a:xfrm>
        </p:spPr>
        <p:txBody>
          <a:bodyPr/>
          <a:lstStyle>
            <a:lvl1pPr algn="ctr">
              <a:buFontTx/>
              <a:buNone/>
              <a:defRPr b="1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algn="ctr">
              <a:buFontTx/>
              <a:buNone/>
              <a:defRPr>
                <a:solidFill>
                  <a:schemeClr val="bg1"/>
                </a:solidFill>
              </a:defRPr>
            </a:lvl2pPr>
            <a:lvl3pPr algn="ctr">
              <a:buFontTx/>
              <a:buNone/>
              <a:defRPr>
                <a:solidFill>
                  <a:schemeClr val="bg1"/>
                </a:solidFill>
              </a:defRPr>
            </a:lvl3pPr>
            <a:lvl4pPr algn="ctr">
              <a:buFontTx/>
              <a:buNone/>
              <a:defRPr>
                <a:solidFill>
                  <a:schemeClr val="bg1"/>
                </a:solidFill>
              </a:defRPr>
            </a:lvl4pPr>
            <a:lvl5pPr algn="ct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1">
            <a:extLst>
              <a:ext uri="{FF2B5EF4-FFF2-40B4-BE49-F238E27FC236}">
                <a16:creationId xmlns:a16="http://schemas.microsoft.com/office/drawing/2014/main" id="{94173962-B6D2-4C6D-B388-98B5CF721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65303" y="81886"/>
            <a:ext cx="897722" cy="384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/</a:t>
            </a:r>
            <a:endParaRPr lang="ja-JP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857496"/>
            <a:ext cx="7772400" cy="1500187"/>
          </a:xfrm>
        </p:spPr>
        <p:txBody>
          <a:bodyPr anchor="ctr" anchorCtr="0"/>
          <a:lstStyle>
            <a:lvl1pPr marL="0" indent="0" algn="ctr">
              <a:buNone/>
              <a:defRPr sz="36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黒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79900" cy="568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83125" y="981075"/>
            <a:ext cx="4279900" cy="568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476672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/>
          </p:nvPr>
        </p:nvSpPr>
        <p:spPr>
          <a:xfrm>
            <a:off x="250825" y="548680"/>
            <a:ext cx="8712200" cy="864096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1"/>
          </p:nvPr>
        </p:nvSpPr>
        <p:spPr>
          <a:xfrm>
            <a:off x="251520" y="1412776"/>
            <a:ext cx="4392488" cy="5328592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2"/>
          </p:nvPr>
        </p:nvSpPr>
        <p:spPr>
          <a:xfrm>
            <a:off x="4644008" y="1412776"/>
            <a:ext cx="4320480" cy="5328592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84975" y="185738"/>
            <a:ext cx="2178050" cy="648493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50825" y="185738"/>
            <a:ext cx="6381750" cy="64849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611188" y="996950"/>
            <a:ext cx="3848100" cy="4953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4611688" y="996950"/>
            <a:ext cx="3848100" cy="24003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4611688" y="3549650"/>
            <a:ext cx="3848100" cy="24003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-24"/>
            <a:ext cx="8569325" cy="548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pic>
        <p:nvPicPr>
          <p:cNvPr id="7" name="Picture 2" descr="C:\Users\Takehiro Kawai\Documents\研究室\under_no.png"/>
          <p:cNvPicPr>
            <a:picLocks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" y="6741367"/>
            <a:ext cx="9143999" cy="144000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620688"/>
            <a:ext cx="8712200" cy="604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err="1"/>
              <a:t>あどほっく</a:t>
            </a:r>
            <a:r>
              <a:rPr lang="ja-JP" altLang="en-US" dirty="0"/>
              <a:t>ねっと</a:t>
            </a:r>
            <a:r>
              <a:rPr lang="ja-JP" altLang="en-US" dirty="0" err="1"/>
              <a:t>わー</a:t>
            </a:r>
            <a:r>
              <a:rPr lang="ja-JP" altLang="en-US" dirty="0"/>
              <a:t>くってなに？</a:t>
            </a:r>
          </a:p>
          <a:p>
            <a:pPr lvl="1"/>
            <a:r>
              <a:rPr lang="ja-JP" altLang="en-US" dirty="0"/>
              <a:t>きっとじつようかされない</a:t>
            </a:r>
          </a:p>
          <a:p>
            <a:pPr lvl="2"/>
            <a:r>
              <a:rPr lang="ja-JP" altLang="en-US" dirty="0"/>
              <a:t>がんばれ</a:t>
            </a:r>
          </a:p>
          <a:p>
            <a:pPr lvl="3"/>
            <a:r>
              <a:rPr lang="ja-JP" altLang="en-US" dirty="0"/>
              <a:t>がんばれ</a:t>
            </a:r>
          </a:p>
          <a:p>
            <a:pPr lvl="4"/>
            <a:r>
              <a:rPr lang="ja-JP" altLang="en-US" dirty="0"/>
              <a:t>めがね</a:t>
            </a:r>
          </a:p>
        </p:txBody>
      </p:sp>
      <p:pic>
        <p:nvPicPr>
          <p:cNvPr id="8" name="図 2" descr="H:\共有\仕事\桧垣研PPTテンプレ\upper.png"/>
          <p:cNvPicPr>
            <a:picLocks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9145305" cy="5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10044608" y="245365"/>
            <a:ext cx="925513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fld id="{32C65B3F-ECF2-4CE7-B960-343D94B4668B}" type="slidenum">
              <a:rPr lang="en-US" altLang="ja-JP" sz="1800" smtClean="0">
                <a:solidFill>
                  <a:schemeClr val="bg1"/>
                </a:solidFill>
              </a:rPr>
              <a:pPr>
                <a:spcBef>
                  <a:spcPct val="50000"/>
                </a:spcBef>
                <a:defRPr/>
              </a:pPr>
              <a:t>‹#›</a:t>
            </a:fld>
            <a:r>
              <a:rPr lang="en-US" altLang="ja-JP" sz="180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D716CE9-507E-40EA-A884-A59300959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44408" y="91765"/>
            <a:ext cx="897722" cy="384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/</a:t>
            </a:r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75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6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u="none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6">
            <a:lumMod val="60000"/>
            <a:lumOff val="40000"/>
          </a:schemeClr>
        </a:buClr>
        <a:buSzPct val="100000"/>
        <a:buFont typeface="Wingdings" pitchFamily="2" charset="2"/>
        <a:buChar char="n"/>
        <a:defRPr kumimoji="1" sz="24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Arial" charset="0"/>
        <a:buChar char="–"/>
        <a:defRPr kumimoji="1" sz="2200">
          <a:solidFill>
            <a:schemeClr val="tx1"/>
          </a:solidFill>
          <a:latin typeface="+mj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200">
          <a:solidFill>
            <a:schemeClr val="tx1"/>
          </a:solidFill>
          <a:latin typeface="+mj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200">
          <a:solidFill>
            <a:schemeClr val="tx1"/>
          </a:solidFill>
          <a:latin typeface="+mj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200">
          <a:solidFill>
            <a:schemeClr val="tx1"/>
          </a:solidFill>
          <a:latin typeface="+mj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車車間通信を用いた衝突回避実験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第3回：PID制御</a:t>
            </a:r>
            <a:r>
              <a:rPr lang="ja-JP" altLang="en-US"/>
              <a:t>器の設計と</a:t>
            </a:r>
            <a:r>
              <a:t>ゲイン調整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888" y="566928"/>
            <a:ext cx="8686800" cy="77724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4F81BD"/>
                </a:solidFill>
              </a:rPr>
              <a:t>calculate_pid_pwm の設計</a:t>
            </a:r>
          </a:p>
          <a:p>
            <a:pPr lvl="1">
              <a:spcAft>
                <a:spcPts val="400"/>
              </a:spcAft>
            </a:pPr>
            <a:r>
              <a:rPr sz="1500" b="0"/>
              <a:t>目標速度と実測速度の偏差から、モータへのPWMを決定する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PID制御関数の作成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スライド番号プレースホルダー 1">
            <a:extLst>
              <a:ext uri="{FF2B5EF4-FFF2-40B4-BE49-F238E27FC236}">
                <a16:creationId xmlns:a16="http://schemas.microsoft.com/office/drawing/2014/main" id="{94173962-B6D2-4C6D-B388-98B5CF721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65303" y="81886"/>
            <a:ext cx="897722" cy="384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r>
              <a:t>1/3</a:t>
            </a:r>
            <a:endParaRPr lang="ja-JP" alt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4023360" cy="59436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1">
                <a:solidFill>
                  <a:srgbClr val="1F3A5C"/>
                </a:solidFill>
              </a:rPr>
              <a:t>e(t) = v_target − v(t)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4206240" cy="59436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1">
                <a:solidFill>
                  <a:srgbClr val="1F3A5C"/>
                </a:solidFill>
              </a:rPr>
              <a:t>u(t) = K_P e(t) + K_I∫e(t)dt + K_D de(t)/dt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F81BD"/>
                </a:solidFill>
              </a:rPr>
              <a:t>各項の役割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51760"/>
            <a:ext cx="2743200" cy="77724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249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</a:rPr>
              <a:t>K_P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3580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現在の偏差に応じて制御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651760"/>
            <a:ext cx="2743200" cy="777240"/>
          </a:xfrm>
          <a:prstGeom prst="roundRect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79" y="27249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</a:rPr>
              <a:t>K_I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303580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定常偏差を補正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651760"/>
            <a:ext cx="2743200" cy="777240"/>
          </a:xfrm>
          <a:prstGeom prst="round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27249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</a:rPr>
              <a:t>K_D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03580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急激な変化を抑制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03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F81BD"/>
                </a:solidFill>
              </a:rPr>
              <a:t>実装箇所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14800"/>
            <a:ext cx="1965960" cy="86868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src/vehicle/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controller.cpp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31720" y="4549140"/>
            <a:ext cx="262128" cy="0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593848" y="4114800"/>
            <a:ext cx="1965960" cy="86868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calculate_pid_pwm()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59808" y="4549140"/>
            <a:ext cx="262128" cy="0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821936" y="4114800"/>
            <a:ext cx="1965960" cy="868680"/>
          </a:xfrm>
          <a:prstGeom prst="round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PWM指令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87896" y="4549140"/>
            <a:ext cx="262128" cy="0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50024" y="4114800"/>
            <a:ext cx="1965960" cy="868680"/>
          </a:xfrm>
          <a:prstGeom prst="round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モータ・車両速度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888" y="566928"/>
            <a:ext cx="8686800" cy="41148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4F81BD"/>
                </a:solidFill>
              </a:rPr>
              <a:t>exp2_monitor.py を使用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モニタによる実験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スライド番号プレースホルダー 1">
            <a:extLst>
              <a:ext uri="{FF2B5EF4-FFF2-40B4-BE49-F238E27FC236}">
                <a16:creationId xmlns:a16="http://schemas.microsoft.com/office/drawing/2014/main" id="{94173962-B6D2-4C6D-B388-98B5CF721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65303" y="81886"/>
            <a:ext cx="897722" cy="384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r>
              <a:t>2/3</a:t>
            </a:r>
            <a:endParaRPr lang="ja-JP" alt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4114800" cy="4572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050" b="0" i="0">
                <a:solidFill>
                  <a:srgbClr val="1F3A5C"/>
                </a:solidFill>
              </a:rPr>
              <a:t>1. モニタを起動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1691640"/>
            <a:ext cx="0" cy="109728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" y="1801368"/>
            <a:ext cx="41148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050" b="0" i="0">
                <a:solidFill>
                  <a:srgbClr val="1F3A5C"/>
                </a:solidFill>
              </a:rPr>
              <a:t>2. COMPORT → Connect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258568"/>
            <a:ext cx="0" cy="109728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" y="2368296"/>
            <a:ext cx="4114800" cy="4572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050" b="0" i="0">
                <a:solidFill>
                  <a:srgbClr val="1F3A5C"/>
                </a:solidFill>
              </a:rPr>
              <a:t>3. 車両の電源ON・コースへ設置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825496"/>
            <a:ext cx="0" cy="109728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" y="2935224"/>
            <a:ext cx="41148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050" b="0" i="0">
                <a:solidFill>
                  <a:srgbClr val="1F3A5C"/>
                </a:solidFill>
              </a:rPr>
              <a:t>4. Target Speedを設定 → SET SPEED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23160" y="3392424"/>
            <a:ext cx="0" cy="109728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" y="3502152"/>
            <a:ext cx="4114800" cy="4572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050" b="0" i="0">
                <a:solidFill>
                  <a:srgbClr val="1F3A5C"/>
                </a:solidFill>
              </a:rPr>
              <a:t>5. KP・KI・KDを設定 → SET GAIN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23160" y="3959352"/>
            <a:ext cx="0" cy="109728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" y="4069080"/>
            <a:ext cx="41148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050" b="0" i="0">
                <a:solidFill>
                  <a:srgbClr val="1F3A5C"/>
                </a:solidFill>
              </a:rPr>
              <a:t>6. START → 走行・計測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23160" y="4526280"/>
            <a:ext cx="0" cy="109728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5760" y="4636008"/>
            <a:ext cx="4114800" cy="4572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050" b="0" i="0">
                <a:solidFill>
                  <a:srgbClr val="1F3A5C"/>
                </a:solidFill>
              </a:rPr>
              <a:t>7. FINISH → 計測終了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3160" y="5093208"/>
            <a:ext cx="0" cy="109728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" y="5202936"/>
            <a:ext cx="41148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050" b="0" i="0">
                <a:solidFill>
                  <a:srgbClr val="1F3A5C"/>
                </a:solidFill>
              </a:rPr>
              <a:t>8. log のデータを確認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1371600"/>
            <a:ext cx="3611880" cy="594360"/>
          </a:xfrm>
          <a:prstGeom prst="round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ゲイン設定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77940" y="1965960"/>
            <a:ext cx="0" cy="320040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0" y="2286000"/>
            <a:ext cx="3611880" cy="594360"/>
          </a:xfrm>
          <a:prstGeom prst="round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走行・計測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77940" y="2880360"/>
            <a:ext cx="0" cy="320040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0" y="3200400"/>
            <a:ext cx="3611880" cy="594360"/>
          </a:xfrm>
          <a:prstGeom prst="roundRect">
            <a:avLst/>
          </a:prstGeom>
          <a:solidFill>
            <a:srgbClr val="4BA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ログ確認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77940" y="3794760"/>
            <a:ext cx="0" cy="320040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72000" y="4114800"/>
            <a:ext cx="3611880" cy="594360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ゲイン変更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83879" y="4411980"/>
            <a:ext cx="274321" cy="0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58200" y="1668780"/>
            <a:ext cx="0" cy="2743200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183879" y="1668780"/>
            <a:ext cx="274321" cy="0"/>
          </a:xfrm>
          <a:prstGeom prst="line">
            <a:avLst/>
          </a:prstGeom>
          <a:ln w="22225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38160" y="2583180"/>
            <a:ext cx="7772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1">
                <a:solidFill>
                  <a:srgbClr val="666666"/>
                </a:solidFill>
              </a:rPr>
              <a:t>再計測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5166360"/>
            <a:ext cx="3886200" cy="868680"/>
          </a:xfrm>
          <a:prstGeom prst="roundRect">
            <a:avLst/>
          </a:prstGeom>
          <a:solidFill>
            <a:srgbClr val="FDF2E3"/>
          </a:solidFill>
          <a:ln w="15875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59" y="516636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8A4B0E"/>
                </a:solidFill>
              </a:rPr>
              <a:t>実車両の速度応答を確認し、目標速度に十分追従するPIDゲインを決定する。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0" y="5454396"/>
            <a:ext cx="292608" cy="292608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ゲイン調整・レポート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スライド番号プレースホルダー 1">
            <a:extLst>
              <a:ext uri="{FF2B5EF4-FFF2-40B4-BE49-F238E27FC236}">
                <a16:creationId xmlns:a16="http://schemas.microsoft.com/office/drawing/2014/main" id="{94173962-B6D2-4C6D-B388-98B5CF721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65303" y="81886"/>
            <a:ext cx="897722" cy="384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r>
              <a:t>3/3</a:t>
            </a:r>
            <a:endParaRPr lang="ja-JP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46888" y="6217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F81BD"/>
                </a:solidFill>
              </a:rPr>
              <a:t>ゲイン調整の目安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46888" y="941832"/>
          <a:ext cx="8686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車両の状態</a:t>
                      </a:r>
                    </a:p>
                  </a:txBody>
                  <a:tcPr marL="73152" marR="73152" marT="27432" marB="2743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調整の考え方</a:t>
                      </a:r>
                    </a:p>
                  </a:txBody>
                  <a:tcPr marL="73152" marR="73152" marT="27432" marB="27432"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応答が遅い</a:t>
                      </a:r>
                    </a:p>
                  </a:txBody>
                  <a:tcPr marL="73152" marR="73152" marT="27432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K_P を大きくする</a:t>
                      </a:r>
                    </a:p>
                  </a:txBody>
                  <a:tcPr marL="73152" marR="73152" marT="27432" marB="27432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定常偏差が残る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K_I を調整する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オーバーシュート・振動が大きい</a:t>
                      </a:r>
                    </a:p>
                  </a:txBody>
                  <a:tcPr marL="73152" marR="73152" marT="27432" marB="27432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K_P，K_I を見直し，K_D を調整する</a:t>
                      </a:r>
                    </a:p>
                  </a:txBody>
                  <a:tcPr marL="73152" marR="73152" marT="27432" marB="27432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ノイズが大きい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</a:rPr>
                        <a:t>K_D の影響を確認する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46888" y="28163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666666"/>
                </a:solidFill>
              </a:rPr>
              <a:t>※実際の車両の応答をログで確認しながら調整する。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313639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F81BD"/>
                </a:solidFill>
              </a:rPr>
              <a:t>レポートに載せるもの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" y="3502152"/>
            <a:ext cx="457200" cy="548640"/>
          </a:xfrm>
          <a:prstGeom prst="round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①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FF81381-AC02-34D8-130E-0ADA54F0749D}"/>
              </a:ext>
            </a:extLst>
          </p:cNvPr>
          <p:cNvGrpSpPr/>
          <p:nvPr/>
        </p:nvGrpSpPr>
        <p:grpSpPr>
          <a:xfrm>
            <a:off x="822960" y="4230224"/>
            <a:ext cx="3474720" cy="566928"/>
            <a:chOff x="822960" y="3520440"/>
            <a:chExt cx="3474720" cy="566928"/>
          </a:xfrm>
        </p:grpSpPr>
        <p:sp>
          <p:nvSpPr>
            <p:cNvPr id="13" name="TextBox 12"/>
            <p:cNvSpPr txBox="1"/>
            <p:nvPr/>
          </p:nvSpPr>
          <p:spPr>
            <a:xfrm>
              <a:off x="822960" y="3520440"/>
              <a:ext cx="347472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1" i="0" dirty="0" err="1">
                  <a:solidFill>
                    <a:srgbClr val="333333"/>
                  </a:solidFill>
                </a:rPr>
                <a:t>速度応答グラフ</a:t>
              </a:r>
              <a:endParaRPr sz="1300" b="1" i="0" dirty="0">
                <a:solidFill>
                  <a:srgbClr val="333333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2960" y="3813048"/>
              <a:ext cx="347472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1" dirty="0" err="1">
                  <a:solidFill>
                    <a:srgbClr val="666666"/>
                  </a:solidFill>
                </a:rPr>
                <a:t>目標速度・実測速度・時間</a:t>
              </a:r>
              <a:endParaRPr sz="1050" b="0" i="1" dirty="0">
                <a:solidFill>
                  <a:srgbClr val="666666"/>
                </a:solidFill>
              </a:endParaRP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246888" y="4160520"/>
            <a:ext cx="457200" cy="548640"/>
          </a:xfrm>
          <a:prstGeom prst="round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②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3D0EB5E-6ED3-0CCE-BE3A-E1B9A217B446}"/>
              </a:ext>
            </a:extLst>
          </p:cNvPr>
          <p:cNvGrpSpPr/>
          <p:nvPr/>
        </p:nvGrpSpPr>
        <p:grpSpPr>
          <a:xfrm>
            <a:off x="822960" y="3510144"/>
            <a:ext cx="3474720" cy="566928"/>
            <a:chOff x="822960" y="4149080"/>
            <a:chExt cx="3474720" cy="566928"/>
          </a:xfrm>
        </p:grpSpPr>
        <p:sp>
          <p:nvSpPr>
            <p:cNvPr id="19" name="TextBox 18"/>
            <p:cNvSpPr txBox="1"/>
            <p:nvPr/>
          </p:nvSpPr>
          <p:spPr>
            <a:xfrm>
              <a:off x="822960" y="4149080"/>
              <a:ext cx="3474720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1" i="0" dirty="0" err="1">
                  <a:solidFill>
                    <a:srgbClr val="333333"/>
                  </a:solidFill>
                </a:rPr>
                <a:t>最終的なPIDゲイン</a:t>
              </a:r>
              <a:endParaRPr sz="1300" b="1" i="0" dirty="0">
                <a:solidFill>
                  <a:srgbClr val="333333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22960" y="4441688"/>
              <a:ext cx="347472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1" dirty="0">
                  <a:solidFill>
                    <a:srgbClr val="666666"/>
                  </a:solidFill>
                </a:rPr>
                <a:t>K_P, K_I, K_D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663440" y="31363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F81BD"/>
                </a:solidFill>
              </a:rPr>
              <a:t>考察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502152"/>
            <a:ext cx="397763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・ゲインをどのように変更したか</a:t>
            </a:r>
          </a:p>
          <a:p>
            <a:pPr algn="l"/>
            <a:r>
              <a:rPr sz="1250" b="0" i="0">
                <a:solidFill>
                  <a:srgbClr val="333333"/>
                </a:solidFill>
              </a:rPr>
              <a:t>・ゲイン変更によって速度応答がどう変化したか</a:t>
            </a:r>
          </a:p>
          <a:p>
            <a:pPr algn="l"/>
            <a:r>
              <a:rPr sz="1250" b="0" i="0">
                <a:solidFill>
                  <a:srgbClr val="333333"/>
                </a:solidFill>
              </a:rPr>
              <a:t>・最終的なゲインで目標速度にどの程度追従できたか</a:t>
            </a:r>
          </a:p>
          <a:p>
            <a:pPr algn="l"/>
            <a:r>
              <a:rPr sz="1250" b="0" i="0">
                <a:solidFill>
                  <a:srgbClr val="333333"/>
                </a:solidFill>
              </a:rPr>
              <a:t>・オーバーシュート，振動，定常偏差の有無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標準デザイン">
  <a:themeElements>
    <a:clrScheme name="ユーザー定義 2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標準デザイン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chemeClr val="tx1"/>
          </a:solidFill>
          <a:round/>
          <a:headEnd/>
          <a:tailEnd/>
        </a:ln>
      </a:spPr>
      <a:bodyPr wrap="square" lIns="90000" tIns="46800" rIns="90000" bIns="46800" anchor="ctr">
        <a:noAutofit/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ＭＳ Ｐゴシック" charset="-128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effectLst/>
          </a:defRPr>
        </a:defPPr>
      </a:lstStyle>
    </a:txDef>
  </a:objectDefaults>
  <a:extraClrSchemeLst>
    <a:extraClrScheme>
      <a:clrScheme name="1_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プレゼンテーション1" id="{00EEFE7C-116F-48B2-A9DD-EEF3189F0313}" vid="{050E564D-F4B0-4AEC-A218-D4F56E1CC75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14239</TotalTime>
  <Words>262</Words>
  <Application>Microsoft Office PowerPoint</Application>
  <PresentationFormat>画面に合わせる (4:3)</PresentationFormat>
  <Paragraphs>65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Arial</vt:lpstr>
      <vt:lpstr>Calibri</vt:lpstr>
      <vt:lpstr>Times New Roman</vt:lpstr>
      <vt:lpstr>Wingdings</vt:lpstr>
      <vt:lpstr>1_標準デザイン</vt:lpstr>
      <vt:lpstr>車車間通信を用いた衝突回避実験</vt:lpstr>
      <vt:lpstr>1. PID制御関数の作成</vt:lpstr>
      <vt:lpstr>2. モニタによる実験</vt:lpstr>
      <vt:lpstr>3. ゲイン調整・レポート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のれい DAZU</dc:creator>
  <cp:lastModifiedBy>NAITO DAIKI</cp:lastModifiedBy>
  <cp:revision>110</cp:revision>
  <cp:lastPrinted>2025-05-16T11:39:04Z</cp:lastPrinted>
  <dcterms:created xsi:type="dcterms:W3CDTF">2025-05-02T01:57:51Z</dcterms:created>
  <dcterms:modified xsi:type="dcterms:W3CDTF">2026-09-25T02:47:38Z</dcterms:modified>
</cp:coreProperties>
</file>