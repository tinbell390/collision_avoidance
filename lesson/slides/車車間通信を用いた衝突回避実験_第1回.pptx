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Lst>
  <p:notesMasterIdLst>
    <p:notesMasterId r:id="rId13"/>
  </p:notesMasterIdLst>
  <p:handoutMasterIdLst>
    <p:handoutMasterId r:id="rId14"/>
  </p:handoutMasterIdLst>
  <p:sldIdLst>
    <p:sldId id="291" r:id="rId20"/>
    <p:sldId id="292" r:id="rId21"/>
    <p:sldId id="293" r:id="rId22"/>
    <p:sldId id="294" r:id="rId23"/>
    <p:sldId id="295" r:id="rId24"/>
    <p:sldId id="296" r:id="rId25"/>
    <p:sldId id="297" r:id="rId26"/>
    <p:sldId id="298" r:id="rId27"/>
  </p:sldIdLst>
  <p:sldSz cx="9144000" cy="6858000" type="screen4x3"/>
  <p:notesSz cx="7099300"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8" userDrawn="1">
          <p15:clr>
            <a:srgbClr val="A4A3A4"/>
          </p15:clr>
        </p15:guide>
        <p15:guide id="4"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村木裕一郎" initials="Y.M" lastIdx="1" clrIdx="0"/>
  <p:cmAuthor id="1" name="yusuke harashima" initials="yh" lastIdx="1" clrIdx="1">
    <p:extLst>
      <p:ext uri="{19B8F6BF-5375-455C-9EA6-DF929625EA0E}">
        <p15:presenceInfo xmlns:p15="http://schemas.microsoft.com/office/powerpoint/2012/main" userId="7ba0a926a3f341c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3"/>
    <a:srgbClr val="3E74C3"/>
    <a:srgbClr val="D4EBF1"/>
    <a:srgbClr val="0D0D0D"/>
    <a:srgbClr val="4A85CD"/>
    <a:srgbClr val="FFFFFF"/>
    <a:srgbClr val="4D89D0"/>
    <a:srgbClr val="79ACDA"/>
    <a:srgbClr val="FFCC00"/>
    <a:srgbClr val="C0B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4" autoAdjust="0"/>
    <p:restoredTop sz="73723" autoAdjust="0"/>
  </p:normalViewPr>
  <p:slideViewPr>
    <p:cSldViewPr>
      <p:cViewPr>
        <p:scale>
          <a:sx n="75" d="100"/>
          <a:sy n="75" d="100"/>
        </p:scale>
        <p:origin x="1096" y="36"/>
      </p:cViewPr>
      <p:guideLst>
        <p:guide orient="horz" pos="28"/>
        <p:guide pos="2880"/>
      </p:guideLst>
    </p:cSldViewPr>
  </p:slideViewPr>
  <p:outlineViewPr>
    <p:cViewPr>
      <p:scale>
        <a:sx n="33" d="100"/>
        <a:sy n="33" d="100"/>
      </p:scale>
      <p:origin x="0" y="37356"/>
    </p:cViewPr>
  </p:outlineViewPr>
  <p:notesTextViewPr>
    <p:cViewPr>
      <p:scale>
        <a:sx n="125" d="100"/>
        <a:sy n="125" d="100"/>
      </p:scale>
      <p:origin x="0" y="0"/>
    </p:cViewPr>
  </p:notesTextViewPr>
  <p:sorterViewPr>
    <p:cViewPr>
      <p:scale>
        <a:sx n="66" d="100"/>
        <a:sy n="66" d="100"/>
      </p:scale>
      <p:origin x="0" y="0"/>
    </p:cViewPr>
  </p:sorterViewPr>
  <p:notesViewPr>
    <p:cSldViewPr>
      <p:cViewPr varScale="1">
        <p:scale>
          <a:sx n="55" d="100"/>
          <a:sy n="55" d="100"/>
        </p:scale>
        <p:origin x="804" y="72"/>
      </p:cViewPr>
      <p:guideLst>
        <p:guide orient="horz" pos="3224"/>
        <p:guide pos="2237"/>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 2"/>
          <p:cNvSpPr>
            <a:spLocks noGrp="1"/>
          </p:cNvSpPr>
          <p:nvPr>
            <p:ph type="dt" sz="quarter" idx="1"/>
          </p:nvPr>
        </p:nvSpPr>
        <p:spPr>
          <a:xfrm>
            <a:off x="4021301" y="4"/>
            <a:ext cx="3076363" cy="511321"/>
          </a:xfrm>
          <a:prstGeom prst="rect">
            <a:avLst/>
          </a:prstGeom>
        </p:spPr>
        <p:txBody>
          <a:bodyPr vert="horz" lIns="94257" tIns="47129" rIns="94257" bIns="47129" rtlCol="0"/>
          <a:lstStyle>
            <a:lvl1pPr algn="r">
              <a:defRPr sz="1200"/>
            </a:lvl1pPr>
          </a:lstStyle>
          <a:p>
            <a:fld id="{8C7BBA0B-A68D-4EE2-83E5-FAFB1C656ACC}" type="datetimeFigureOut">
              <a:rPr kumimoji="1" lang="ja-JP" altLang="en-US" smtClean="0"/>
              <a:pPr/>
              <a:t>2026/9/2</a:t>
            </a:fld>
            <a:endParaRPr kumimoji="1" lang="ja-JP" altLang="en-US" dirty="0"/>
          </a:p>
        </p:txBody>
      </p:sp>
      <p:sp>
        <p:nvSpPr>
          <p:cNvPr id="4" name="フッター プレースホルダ 3"/>
          <p:cNvSpPr>
            <a:spLocks noGrp="1"/>
          </p:cNvSpPr>
          <p:nvPr>
            <p:ph type="ftr" sz="quarter" idx="2"/>
          </p:nvPr>
        </p:nvSpPr>
        <p:spPr>
          <a:xfrm>
            <a:off x="6" y="9721664"/>
            <a:ext cx="3076363" cy="511321"/>
          </a:xfrm>
          <a:prstGeom prst="rect">
            <a:avLst/>
          </a:prstGeom>
        </p:spPr>
        <p:txBody>
          <a:bodyPr vert="horz" lIns="94257" tIns="47129" rIns="94257" bIns="47129" rtlCol="0" anchor="b"/>
          <a:lstStyle>
            <a:lvl1pPr algn="l">
              <a:defRPr sz="1200"/>
            </a:lvl1pPr>
          </a:lstStyle>
          <a:p>
            <a:endParaRPr kumimoji="1" lang="ja-JP" altLang="en-US" dirty="0"/>
          </a:p>
        </p:txBody>
      </p:sp>
      <p:sp>
        <p:nvSpPr>
          <p:cNvPr id="5" name="スライド番号プレースホルダ 4"/>
          <p:cNvSpPr>
            <a:spLocks noGrp="1"/>
          </p:cNvSpPr>
          <p:nvPr>
            <p:ph type="sldNum" sz="quarter" idx="3"/>
          </p:nvPr>
        </p:nvSpPr>
        <p:spPr>
          <a:xfrm>
            <a:off x="4021301" y="9721664"/>
            <a:ext cx="3076363" cy="511321"/>
          </a:xfrm>
          <a:prstGeom prst="rect">
            <a:avLst/>
          </a:prstGeom>
        </p:spPr>
        <p:txBody>
          <a:bodyPr vert="horz" lIns="94257" tIns="47129" rIns="94257" bIns="47129" rtlCol="0" anchor="b"/>
          <a:lstStyle>
            <a:lvl1pPr algn="r">
              <a:defRPr sz="1200"/>
            </a:lvl1pPr>
          </a:lstStyle>
          <a:p>
            <a:fld id="{24B182B5-B6A0-49CE-A2E2-968892979931}" type="slidenum">
              <a:rPr kumimoji="1" lang="ja-JP" altLang="en-US" smtClean="0"/>
              <a:pPr/>
              <a:t>‹#›</a:t>
            </a:fld>
            <a:endParaRPr kumimoji="1" lang="ja-JP" altLang="en-US" dirty="0"/>
          </a:p>
        </p:txBody>
      </p:sp>
      <p:sp>
        <p:nvSpPr>
          <p:cNvPr id="6" name="ヘッダー プレースホルダー 5"/>
          <p:cNvSpPr>
            <a:spLocks noGrp="1"/>
          </p:cNvSpPr>
          <p:nvPr>
            <p:ph type="hdr" sz="quarter"/>
          </p:nvPr>
        </p:nvSpPr>
        <p:spPr>
          <a:xfrm>
            <a:off x="0" y="0"/>
            <a:ext cx="3076780" cy="513883"/>
          </a:xfrm>
          <a:prstGeom prst="rect">
            <a:avLst/>
          </a:prstGeom>
        </p:spPr>
        <p:txBody>
          <a:bodyPr vert="horz" lIns="94768" tIns="47384" rIns="94768" bIns="47384" rtlCol="0"/>
          <a:lstStyle>
            <a:lvl1pPr algn="l">
              <a:defRPr sz="1200"/>
            </a:lvl1pPr>
          </a:lstStyle>
          <a:p>
            <a:endParaRPr kumimoji="1" lang="ja-JP" altLang="en-US"/>
          </a:p>
        </p:txBody>
      </p:sp>
    </p:spTree>
    <p:extLst>
      <p:ext uri="{BB962C8B-B14F-4D97-AF65-F5344CB8AC3E}">
        <p14:creationId xmlns:p14="http://schemas.microsoft.com/office/powerpoint/2010/main" val="393338445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6" y="6"/>
            <a:ext cx="3076363" cy="511729"/>
          </a:xfrm>
          <a:prstGeom prst="rect">
            <a:avLst/>
          </a:prstGeom>
        </p:spPr>
        <p:txBody>
          <a:bodyPr vert="horz" lIns="94257" tIns="47129" rIns="94257" bIns="47129" rtlCol="0"/>
          <a:lstStyle>
            <a:lvl1pPr algn="l">
              <a:defRPr sz="1200"/>
            </a:lvl1pPr>
          </a:lstStyle>
          <a:p>
            <a:endParaRPr kumimoji="1" lang="ja-JP" altLang="en-US" dirty="0"/>
          </a:p>
        </p:txBody>
      </p:sp>
      <p:sp>
        <p:nvSpPr>
          <p:cNvPr id="3" name="日付プレースホルダ 2"/>
          <p:cNvSpPr>
            <a:spLocks noGrp="1"/>
          </p:cNvSpPr>
          <p:nvPr>
            <p:ph type="dt" idx="1"/>
          </p:nvPr>
        </p:nvSpPr>
        <p:spPr>
          <a:xfrm>
            <a:off x="4021301" y="6"/>
            <a:ext cx="3076363" cy="511729"/>
          </a:xfrm>
          <a:prstGeom prst="rect">
            <a:avLst/>
          </a:prstGeom>
        </p:spPr>
        <p:txBody>
          <a:bodyPr vert="horz" lIns="94257" tIns="47129" rIns="94257" bIns="47129" rtlCol="0"/>
          <a:lstStyle>
            <a:lvl1pPr algn="r">
              <a:defRPr sz="1200"/>
            </a:lvl1pPr>
          </a:lstStyle>
          <a:p>
            <a:fld id="{699216BF-253C-4E27-8018-966494AB97EF}" type="datetimeFigureOut">
              <a:rPr kumimoji="1" lang="ja-JP" altLang="en-US" smtClean="0"/>
              <a:pPr/>
              <a:t>2026/9/2</a:t>
            </a:fld>
            <a:endParaRPr kumimoji="1" lang="ja-JP" altLang="en-US" dirty="0"/>
          </a:p>
        </p:txBody>
      </p:sp>
      <p:sp>
        <p:nvSpPr>
          <p:cNvPr id="4" name="スライド イメージ プレースホルダ 3"/>
          <p:cNvSpPr>
            <a:spLocks noGrp="1" noRot="1" noChangeAspect="1"/>
          </p:cNvSpPr>
          <p:nvPr>
            <p:ph type="sldImg" idx="2"/>
          </p:nvPr>
        </p:nvSpPr>
        <p:spPr>
          <a:xfrm>
            <a:off x="989013" y="766763"/>
            <a:ext cx="5121275" cy="3841750"/>
          </a:xfrm>
          <a:prstGeom prst="rect">
            <a:avLst/>
          </a:prstGeom>
          <a:noFill/>
          <a:ln w="12700">
            <a:solidFill>
              <a:prstClr val="black"/>
            </a:solidFill>
          </a:ln>
        </p:spPr>
        <p:txBody>
          <a:bodyPr vert="horz" lIns="94257" tIns="47129" rIns="94257" bIns="47129" rtlCol="0" anchor="ctr"/>
          <a:lstStyle/>
          <a:p>
            <a:endParaRPr lang="ja-JP" altLang="en-US" dirty="0"/>
          </a:p>
        </p:txBody>
      </p:sp>
      <p:sp>
        <p:nvSpPr>
          <p:cNvPr id="5" name="ノート プレースホルダ 4"/>
          <p:cNvSpPr>
            <a:spLocks noGrp="1"/>
          </p:cNvSpPr>
          <p:nvPr>
            <p:ph type="body" sz="quarter" idx="3"/>
          </p:nvPr>
        </p:nvSpPr>
        <p:spPr>
          <a:xfrm>
            <a:off x="709931" y="4861447"/>
            <a:ext cx="5679440" cy="4605576"/>
          </a:xfrm>
          <a:prstGeom prst="rect">
            <a:avLst/>
          </a:prstGeom>
        </p:spPr>
        <p:txBody>
          <a:bodyPr vert="horz" lIns="94257" tIns="47129" rIns="94257" bIns="47129"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6" y="9721112"/>
            <a:ext cx="3076363" cy="511729"/>
          </a:xfrm>
          <a:prstGeom prst="rect">
            <a:avLst/>
          </a:prstGeom>
        </p:spPr>
        <p:txBody>
          <a:bodyPr vert="horz" lIns="94257" tIns="47129" rIns="94257" bIns="47129" rtlCol="0" anchor="b"/>
          <a:lstStyle>
            <a:lvl1pPr algn="l">
              <a:defRPr sz="1200"/>
            </a:lvl1pPr>
          </a:lstStyle>
          <a:p>
            <a:endParaRPr kumimoji="1" lang="ja-JP" altLang="en-US" dirty="0"/>
          </a:p>
        </p:txBody>
      </p:sp>
      <p:sp>
        <p:nvSpPr>
          <p:cNvPr id="7" name="スライド番号プレースホルダ 6"/>
          <p:cNvSpPr>
            <a:spLocks noGrp="1"/>
          </p:cNvSpPr>
          <p:nvPr>
            <p:ph type="sldNum" sz="quarter" idx="5"/>
          </p:nvPr>
        </p:nvSpPr>
        <p:spPr>
          <a:xfrm>
            <a:off x="4021301" y="9721112"/>
            <a:ext cx="3076363" cy="511729"/>
          </a:xfrm>
          <a:prstGeom prst="rect">
            <a:avLst/>
          </a:prstGeom>
        </p:spPr>
        <p:txBody>
          <a:bodyPr vert="horz" lIns="94257" tIns="47129" rIns="94257" bIns="47129" rtlCol="0" anchor="b"/>
          <a:lstStyle>
            <a:lvl1pPr algn="r">
              <a:defRPr sz="1200"/>
            </a:lvl1pPr>
          </a:lstStyle>
          <a:p>
            <a:fld id="{5817ECBD-6D08-43EC-82FD-B322C687D9E5}" type="slidenum">
              <a:rPr kumimoji="1" lang="ja-JP" altLang="en-US" smtClean="0"/>
              <a:pPr/>
              <a:t>‹#›</a:t>
            </a:fld>
            <a:endParaRPr kumimoji="1" lang="ja-JP" altLang="en-US" dirty="0"/>
          </a:p>
        </p:txBody>
      </p:sp>
    </p:spTree>
    <p:extLst>
      <p:ext uri="{BB962C8B-B14F-4D97-AF65-F5344CB8AC3E}">
        <p14:creationId xmlns:p14="http://schemas.microsoft.com/office/powerpoint/2010/main" val="142264215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77154" name="Rectangle 2"/>
          <p:cNvSpPr>
            <a:spLocks noGrp="1" noChangeArrowheads="1"/>
          </p:cNvSpPr>
          <p:nvPr>
            <p:ph type="ctrTitle"/>
          </p:nvPr>
        </p:nvSpPr>
        <p:spPr>
          <a:xfrm>
            <a:off x="685800" y="2130425"/>
            <a:ext cx="7772400" cy="1470025"/>
          </a:xfrm>
        </p:spPr>
        <p:txBody>
          <a:bodyPr/>
          <a:lstStyle>
            <a:lvl1pPr algn="ctr">
              <a:defRPr>
                <a:solidFill>
                  <a:schemeClr val="tx1"/>
                </a:solidFill>
              </a:defRPr>
            </a:lvl1pPr>
          </a:lstStyle>
          <a:p>
            <a:r>
              <a:rPr lang="ja-JP" altLang="en-US"/>
              <a:t>マスター タイトルの書式設定</a:t>
            </a:r>
            <a:endParaRPr lang="ja-JP" altLang="en-US" dirty="0"/>
          </a:p>
        </p:txBody>
      </p:sp>
      <p:sp>
        <p:nvSpPr>
          <p:cNvPr id="177155" name="Rectangle 3"/>
          <p:cNvSpPr>
            <a:spLocks noGrp="1" noChangeArrowheads="1"/>
          </p:cNvSpPr>
          <p:nvPr>
            <p:ph type="subTitle" idx="1"/>
          </p:nvPr>
        </p:nvSpPr>
        <p:spPr>
          <a:xfrm>
            <a:off x="1371600" y="3716338"/>
            <a:ext cx="6400800" cy="1752600"/>
          </a:xfrm>
        </p:spPr>
        <p:txBody>
          <a:bodyPr/>
          <a:lstStyle>
            <a:lvl1pPr marL="0" indent="0" algn="ctr">
              <a:buFont typeface="Arial" charset="0"/>
              <a:buNone/>
              <a:defRPr/>
            </a:lvl1pPr>
          </a:lstStyle>
          <a:p>
            <a:r>
              <a:rPr lang="ja-JP" altLang="en-US"/>
              <a:t>マスター サブタイトルの書式設定</a:t>
            </a:r>
            <a:endParaRPr lang="ja-JP" altLang="en-US" dirty="0"/>
          </a:p>
        </p:txBody>
      </p:sp>
      <p:pic>
        <p:nvPicPr>
          <p:cNvPr id="5" name="図 3" descr="C:\Users\oneda\Desktop\logo_jp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06963" y="1052736"/>
            <a:ext cx="3057525" cy="428625"/>
          </a:xfrm>
          <a:prstGeom prst="rect">
            <a:avLst/>
          </a:prstGeom>
          <a:noFill/>
          <a:extLst>
            <a:ext uri="{909E8E84-426E-40DD-AFC4-6F175D3DCCD1}">
              <a14:hiddenFill xmlns:a14="http://schemas.microsoft.com/office/drawing/2010/main">
                <a:solidFill>
                  <a:srgbClr val="FFFFFF"/>
                </a:solidFill>
              </a14:hiddenFill>
            </a:ext>
          </a:extLst>
        </p:spPr>
      </p:pic>
      <p:pic>
        <p:nvPicPr>
          <p:cNvPr id="8" name="図 2" descr="H:\共有\仕事\桧垣研PPTテンプレ\upper.png"/>
          <p:cNvPicPr>
            <a:picLocks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176" y="0"/>
            <a:ext cx="9147176" cy="550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
          <p:cNvPicPr>
            <a:picLocks noChangeAspect="1"/>
          </p:cNvPicPr>
          <p:nvPr userDrawn="1"/>
        </p:nvPicPr>
        <p:blipFill>
          <a:blip r:embed="rId4" cstate="print"/>
          <a:stretch>
            <a:fillRect/>
          </a:stretch>
        </p:blipFill>
        <p:spPr>
          <a:xfrm>
            <a:off x="251520" y="1052736"/>
            <a:ext cx="3528392" cy="4709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標準レイアウト">
    <p:spTree>
      <p:nvGrpSpPr>
        <p:cNvPr id="1" name=""/>
        <p:cNvGrpSpPr/>
        <p:nvPr/>
      </p:nvGrpSpPr>
      <p:grpSpPr>
        <a:xfrm>
          <a:off x="0" y="0"/>
          <a:ext cx="0" cy="0"/>
          <a:chOff x="0" y="0"/>
          <a:chExt cx="0" cy="0"/>
        </a:xfrm>
      </p:grpSpPr>
      <p:sp>
        <p:nvSpPr>
          <p:cNvPr id="3" name="コンテンツ プレースホルダ 2"/>
          <p:cNvSpPr>
            <a:spLocks noGrp="1"/>
          </p:cNvSpPr>
          <p:nvPr>
            <p:ph idx="1"/>
          </p:nvPr>
        </p:nvSpPr>
        <p:spPr>
          <a:xfrm>
            <a:off x="250825" y="548680"/>
            <a:ext cx="8712200" cy="5666402"/>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2" name="タイトル 1"/>
          <p:cNvSpPr>
            <a:spLocks noGrp="1"/>
          </p:cNvSpPr>
          <p:nvPr>
            <p:ph type="title"/>
          </p:nvPr>
        </p:nvSpPr>
        <p:spPr>
          <a:xfrm>
            <a:off x="250825" y="0"/>
            <a:ext cx="8569325" cy="548680"/>
          </a:xfrm>
        </p:spPr>
        <p:txBody>
          <a:bodyPr/>
          <a:lstStyle>
            <a:lvl1pPr>
              <a:defRPr u="none"/>
            </a:lvl1pPr>
          </a:lstStyle>
          <a:p>
            <a:r>
              <a:rPr lang="ja-JP" altLang="en-US"/>
              <a:t>マスター タイトルの書式設定</a:t>
            </a:r>
            <a:endParaRPr lang="ja-JP" altLang="en-US" dirty="0"/>
          </a:p>
        </p:txBody>
      </p:sp>
      <p:sp>
        <p:nvSpPr>
          <p:cNvPr id="5" name="テキスト プレースホルダ 4"/>
          <p:cNvSpPr>
            <a:spLocks noGrp="1"/>
          </p:cNvSpPr>
          <p:nvPr>
            <p:ph type="body" sz="quarter" idx="10"/>
          </p:nvPr>
        </p:nvSpPr>
        <p:spPr>
          <a:xfrm>
            <a:off x="1" y="6357958"/>
            <a:ext cx="9144000" cy="500042"/>
          </a:xfrm>
        </p:spPr>
        <p:txBody>
          <a:bodyPr/>
          <a:lstStyle>
            <a:lvl1pPr algn="ctr">
              <a:buFontTx/>
              <a:buNone/>
              <a:defRPr b="1" u="sng">
                <a:solidFill>
                  <a:srgbClr val="FF0000"/>
                </a:solidFill>
                <a:effectLst>
                  <a:outerShdw blurRad="38100" dist="38100" dir="2700000" algn="tl">
                    <a:srgbClr val="000000">
                      <a:alpha val="43137"/>
                    </a:srgbClr>
                  </a:outerShdw>
                </a:effectLst>
              </a:defRPr>
            </a:lvl1pPr>
            <a:lvl2pPr algn="ctr">
              <a:buFontTx/>
              <a:buNone/>
              <a:defRPr>
                <a:solidFill>
                  <a:schemeClr val="bg1"/>
                </a:solidFill>
              </a:defRPr>
            </a:lvl2pPr>
            <a:lvl3pPr algn="ctr">
              <a:buFontTx/>
              <a:buNone/>
              <a:defRPr>
                <a:solidFill>
                  <a:schemeClr val="bg1"/>
                </a:solidFill>
              </a:defRPr>
            </a:lvl3pPr>
            <a:lvl4pPr algn="ctr">
              <a:buFontTx/>
              <a:buNone/>
              <a:defRPr>
                <a:solidFill>
                  <a:schemeClr val="bg1"/>
                </a:solidFill>
              </a:defRPr>
            </a:lvl4pPr>
            <a:lvl5pPr algn="ctr">
              <a:buFontTx/>
              <a:buNone/>
              <a:defRPr>
                <a:solidFill>
                  <a:schemeClr val="bg1"/>
                </a:solidFill>
              </a:defRPr>
            </a:lvl5pPr>
          </a:lstStyle>
          <a:p>
            <a:pPr lvl="0"/>
            <a:r>
              <a:rPr kumimoji="1" lang="ja-JP" altLang="en-US"/>
              <a:t>マスター テキストの書式設定</a:t>
            </a: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rPr lang="en-US" altLang="ja-JP" dirty="0"/>
              <a:t>/</a:t>
            </a:r>
            <a:endParaRPr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3" name="テキスト プレースホルダ 2"/>
          <p:cNvSpPr>
            <a:spLocks noGrp="1"/>
          </p:cNvSpPr>
          <p:nvPr>
            <p:ph type="body" idx="1"/>
          </p:nvPr>
        </p:nvSpPr>
        <p:spPr>
          <a:xfrm>
            <a:off x="722313" y="2857496"/>
            <a:ext cx="7772400" cy="1500187"/>
          </a:xfrm>
        </p:spPr>
        <p:txBody>
          <a:bodyPr anchor="ctr" anchorCtr="0"/>
          <a:lstStyle>
            <a:lvl1pPr marL="0" indent="0" algn="ctr">
              <a:buNone/>
              <a:defRPr sz="36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黒紙">
    <p:spTree>
      <p:nvGrpSpPr>
        <p:cNvPr id="1" name=""/>
        <p:cNvGrpSpPr/>
        <p:nvPr/>
      </p:nvGrpSpPr>
      <p:grpSpPr>
        <a:xfrm>
          <a:off x="0" y="0"/>
          <a:ext cx="0" cy="0"/>
          <a:chOff x="0" y="0"/>
          <a:chExt cx="0" cy="0"/>
        </a:xfrm>
      </p:grpSpPr>
      <p:sp>
        <p:nvSpPr>
          <p:cNvPr id="2" name="正方形/長方形 1"/>
          <p:cNvSpPr/>
          <p:nvPr userDrawn="1"/>
        </p:nvSpPr>
        <p:spPr bwMode="auto">
          <a:xfrm>
            <a:off x="0" y="0"/>
            <a:ext cx="9144000" cy="6858000"/>
          </a:xfrm>
          <a:prstGeom prst="rect">
            <a:avLst/>
          </a:prstGeom>
          <a:solidFill>
            <a:schemeClr val="tx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000" b="0" i="0" u="none" strike="noStrike" cap="none" normalizeH="0" baseline="0" dirty="0">
              <a:ln>
                <a:noFill/>
              </a:ln>
              <a:solidFill>
                <a:schemeClr val="tx1"/>
              </a:solidFill>
              <a:latin typeface="Times New Roman" pitchFamily="18" charset="0"/>
              <a:ea typeface="ＭＳ Ｐゴシック" charset="-128"/>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250825" y="981075"/>
            <a:ext cx="4279900" cy="568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83125" y="981075"/>
            <a:ext cx="4279900" cy="568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0"/>
            <a:ext cx="8229600" cy="476672"/>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5" name="コンテンツ プレースホルダ 2"/>
          <p:cNvSpPr>
            <a:spLocks noGrp="1"/>
          </p:cNvSpPr>
          <p:nvPr>
            <p:ph idx="10"/>
          </p:nvPr>
        </p:nvSpPr>
        <p:spPr>
          <a:xfrm>
            <a:off x="250825" y="548680"/>
            <a:ext cx="8712200" cy="864096"/>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7" name="コンテンツ プレースホルダ 2"/>
          <p:cNvSpPr>
            <a:spLocks noGrp="1"/>
          </p:cNvSpPr>
          <p:nvPr>
            <p:ph idx="11"/>
          </p:nvPr>
        </p:nvSpPr>
        <p:spPr>
          <a:xfrm>
            <a:off x="251520" y="1412776"/>
            <a:ext cx="4392488" cy="5328592"/>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8" name="コンテンツ プレースホルダ 2"/>
          <p:cNvSpPr>
            <a:spLocks noGrp="1"/>
          </p:cNvSpPr>
          <p:nvPr>
            <p:ph idx="12"/>
          </p:nvPr>
        </p:nvSpPr>
        <p:spPr>
          <a:xfrm>
            <a:off x="4644008" y="1412776"/>
            <a:ext cx="4320480" cy="5328592"/>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endParaRPr lang="ja-JP" altLang="en-US" noProof="0" dirty="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784975" y="185738"/>
            <a:ext cx="2178050" cy="6484937"/>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50825" y="185738"/>
            <a:ext cx="6381750" cy="64849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タイトル、テキスト、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9144000" cy="476672"/>
          </a:xfrm>
        </p:spPr>
        <p:txBody>
          <a:bodyPr/>
          <a:lstStyle/>
          <a:p>
            <a:r>
              <a:rPr lang="ja-JP" altLang="en-US"/>
              <a:t>マスター タイトルの書式設定</a:t>
            </a:r>
            <a:endParaRPr lang="ja-JP" altLang="en-US" dirty="0"/>
          </a:p>
        </p:txBody>
      </p:sp>
      <p:sp>
        <p:nvSpPr>
          <p:cNvPr id="3" name="テキスト プレースホルダ 2"/>
          <p:cNvSpPr>
            <a:spLocks noGrp="1"/>
          </p:cNvSpPr>
          <p:nvPr>
            <p:ph type="body" sz="half" idx="1"/>
          </p:nvPr>
        </p:nvSpPr>
        <p:spPr>
          <a:xfrm>
            <a:off x="611188" y="996950"/>
            <a:ext cx="3848100" cy="49530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quarter" idx="2"/>
          </p:nvPr>
        </p:nvSpPr>
        <p:spPr>
          <a:xfrm>
            <a:off x="4611688" y="996950"/>
            <a:ext cx="3848100" cy="24003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コンテンツ プレースホルダ 4"/>
          <p:cNvSpPr>
            <a:spLocks noGrp="1"/>
          </p:cNvSpPr>
          <p:nvPr>
            <p:ph sz="quarter" idx="3"/>
          </p:nvPr>
        </p:nvSpPr>
        <p:spPr>
          <a:xfrm>
            <a:off x="4611688" y="3549650"/>
            <a:ext cx="3848100" cy="24003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0825" y="-24"/>
            <a:ext cx="8569325" cy="54870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dirty="0"/>
              <a:t>マスタ タイトルの書式設定</a:t>
            </a:r>
          </a:p>
        </p:txBody>
      </p:sp>
      <p:pic>
        <p:nvPicPr>
          <p:cNvPr id="7" name="Picture 2" descr="C:\Users\Takehiro Kawai\Documents\研究室\under_no.png"/>
          <p:cNvPicPr>
            <a:picLocks noChangeArrowheads="1"/>
          </p:cNvPicPr>
          <p:nvPr userDrawn="1"/>
        </p:nvPicPr>
        <p:blipFill>
          <a:blip r:embed="rId15" cstate="print"/>
          <a:srcRect/>
          <a:stretch>
            <a:fillRect/>
          </a:stretch>
        </p:blipFill>
        <p:spPr bwMode="auto">
          <a:xfrm>
            <a:off x="1" y="6741367"/>
            <a:ext cx="9143999" cy="144000"/>
          </a:xfrm>
          <a:prstGeom prst="rect">
            <a:avLst/>
          </a:prstGeom>
          <a:noFill/>
        </p:spPr>
      </p:pic>
      <p:sp>
        <p:nvSpPr>
          <p:cNvPr id="1027" name="Rectangle 3"/>
          <p:cNvSpPr>
            <a:spLocks noGrp="1" noChangeArrowheads="1"/>
          </p:cNvSpPr>
          <p:nvPr>
            <p:ph type="body" idx="1"/>
          </p:nvPr>
        </p:nvSpPr>
        <p:spPr bwMode="auto">
          <a:xfrm>
            <a:off x="250825" y="620688"/>
            <a:ext cx="8712200" cy="60499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dirty="0" err="1"/>
              <a:t>あどほっく</a:t>
            </a:r>
            <a:r>
              <a:rPr lang="ja-JP" altLang="en-US" dirty="0"/>
              <a:t>ねっと</a:t>
            </a:r>
            <a:r>
              <a:rPr lang="ja-JP" altLang="en-US" dirty="0" err="1"/>
              <a:t>わー</a:t>
            </a:r>
            <a:r>
              <a:rPr lang="ja-JP" altLang="en-US" dirty="0"/>
              <a:t>くってなに？</a:t>
            </a:r>
          </a:p>
          <a:p>
            <a:pPr lvl="1"/>
            <a:r>
              <a:rPr lang="ja-JP" altLang="en-US" dirty="0"/>
              <a:t>きっとじつようかされない</a:t>
            </a:r>
          </a:p>
          <a:p>
            <a:pPr lvl="2"/>
            <a:r>
              <a:rPr lang="ja-JP" altLang="en-US" dirty="0"/>
              <a:t>がんばれ</a:t>
            </a:r>
          </a:p>
          <a:p>
            <a:pPr lvl="3"/>
            <a:r>
              <a:rPr lang="ja-JP" altLang="en-US" dirty="0"/>
              <a:t>がんばれ</a:t>
            </a:r>
          </a:p>
          <a:p>
            <a:pPr lvl="4"/>
            <a:r>
              <a:rPr lang="ja-JP" altLang="en-US" dirty="0"/>
              <a:t>めがね</a:t>
            </a:r>
          </a:p>
        </p:txBody>
      </p:sp>
      <p:pic>
        <p:nvPicPr>
          <p:cNvPr id="8" name="図 2" descr="H:\共有\仕事\桧垣研PPTテンプレ\upper.png"/>
          <p:cNvPicPr>
            <a:picLocks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3175" y="0"/>
            <a:ext cx="9145305" cy="550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4"/>
          <p:cNvSpPr txBox="1">
            <a:spLocks noChangeArrowheads="1"/>
          </p:cNvSpPr>
          <p:nvPr userDrawn="1"/>
        </p:nvSpPr>
        <p:spPr bwMode="auto">
          <a:xfrm>
            <a:off x="10044608" y="245365"/>
            <a:ext cx="925513" cy="369332"/>
          </a:xfrm>
          <a:prstGeom prst="rect">
            <a:avLst/>
          </a:prstGeom>
          <a:noFill/>
          <a:ln w="9525" algn="ctr">
            <a:noFill/>
            <a:miter lim="800000"/>
            <a:headEnd/>
            <a:tailEnd/>
          </a:ln>
        </p:spPr>
        <p:txBody>
          <a:bodyPr>
            <a:spAutoFit/>
          </a:bodyPr>
          <a:lstStyle/>
          <a:p>
            <a:pPr>
              <a:spcBef>
                <a:spcPct val="50000"/>
              </a:spcBef>
              <a:defRPr/>
            </a:pPr>
            <a:fld id="{32C65B3F-ECF2-4CE7-B960-343D94B4668B}" type="slidenum">
              <a:rPr lang="en-US" altLang="ja-JP" sz="1800" smtClean="0">
                <a:solidFill>
                  <a:schemeClr val="bg1"/>
                </a:solidFill>
              </a:rPr>
              <a:pPr>
                <a:spcBef>
                  <a:spcPct val="50000"/>
                </a:spcBef>
                <a:defRPr/>
              </a:pPr>
              <a:t>‹#›</a:t>
            </a:fld>
            <a:r>
              <a:rPr lang="en-US" altLang="ja-JP" sz="1800" dirty="0">
                <a:solidFill>
                  <a:schemeClr val="bg1"/>
                </a:solidFill>
              </a:rPr>
              <a:t>/</a:t>
            </a:r>
          </a:p>
        </p:txBody>
      </p:sp>
      <p:sp>
        <p:nvSpPr>
          <p:cNvPr id="2" name="スライド番号プレースホルダー 1">
            <a:extLst>
              <a:ext uri="{FF2B5EF4-FFF2-40B4-BE49-F238E27FC236}">
                <a16:creationId xmlns:a16="http://schemas.microsoft.com/office/drawing/2014/main" id="{1D716CE9-507E-40EA-A884-A593009590A3}"/>
              </a:ext>
            </a:extLst>
          </p:cNvPr>
          <p:cNvSpPr>
            <a:spLocks noGrp="1"/>
          </p:cNvSpPr>
          <p:nvPr>
            <p:ph type="sldNum" sz="quarter" idx="4"/>
          </p:nvPr>
        </p:nvSpPr>
        <p:spPr>
          <a:xfrm>
            <a:off x="8244408" y="91765"/>
            <a:ext cx="897722" cy="384907"/>
          </a:xfrm>
          <a:prstGeom prst="rect">
            <a:avLst/>
          </a:prstGeom>
        </p:spPr>
        <p:txBody>
          <a:bodyPr vert="horz" lIns="91440" tIns="45720" rIns="91440" bIns="45720" rtlCol="0" anchor="ctr"/>
          <a:lstStyle>
            <a:lvl1pPr algn="r">
              <a:defRPr sz="1800">
                <a:solidFill>
                  <a:schemeClr val="bg1"/>
                </a:solidFill>
              </a:defRPr>
            </a:lvl1pPr>
          </a:lstStyle>
          <a:p>
            <a:r>
              <a:rPr lang="en-US" altLang="ja-JP" dirty="0"/>
              <a:t>/</a:t>
            </a:r>
            <a:endParaRPr lang="ja-JP"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75"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6" r:id="rId13"/>
  </p:sldLayoutIdLst>
  <p:hf hdr="0" ftr="0" dt="0"/>
  <p:txStyles>
    <p:titleStyle>
      <a:lvl1pPr algn="l" rtl="0" eaLnBrk="1" fontAlgn="base" hangingPunct="1">
        <a:spcBef>
          <a:spcPct val="0"/>
        </a:spcBef>
        <a:spcAft>
          <a:spcPct val="0"/>
        </a:spcAft>
        <a:defRPr kumimoji="1" sz="3600" u="none">
          <a:solidFill>
            <a:schemeClr val="bg1"/>
          </a:solidFill>
          <a:latin typeface="+mj-lt"/>
          <a:ea typeface="+mj-ea"/>
          <a:cs typeface="+mj-cs"/>
        </a:defRPr>
      </a:lvl1pPr>
      <a:lvl2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2pPr>
      <a:lvl3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3pPr>
      <a:lvl4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4pPr>
      <a:lvl5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5pPr>
      <a:lvl6pPr marL="4572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6pPr>
      <a:lvl7pPr marL="9144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7pPr>
      <a:lvl8pPr marL="13716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8pPr>
      <a:lvl9pPr marL="18288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9pPr>
    </p:titleStyle>
    <p:bodyStyle>
      <a:lvl1pPr marL="342900" indent="-342900" algn="l" rtl="0" eaLnBrk="1" fontAlgn="base" hangingPunct="1">
        <a:spcBef>
          <a:spcPct val="20000"/>
        </a:spcBef>
        <a:spcAft>
          <a:spcPct val="0"/>
        </a:spcAft>
        <a:buClr>
          <a:schemeClr val="accent6">
            <a:lumMod val="60000"/>
            <a:lumOff val="40000"/>
          </a:schemeClr>
        </a:buClr>
        <a:buSzPct val="100000"/>
        <a:buFont typeface="Wingdings" pitchFamily="2" charset="2"/>
        <a:buChar char="n"/>
        <a:defRPr kumimoji="1" sz="2400">
          <a:solidFill>
            <a:schemeClr val="tx1"/>
          </a:solidFill>
          <a:latin typeface="+mj-lt"/>
          <a:ea typeface="+mn-ea"/>
          <a:cs typeface="+mn-cs"/>
        </a:defRPr>
      </a:lvl1pPr>
      <a:lvl2pPr marL="742950" indent="-285750" algn="l" rtl="0" eaLnBrk="1" fontAlgn="base" hangingPunct="1">
        <a:spcBef>
          <a:spcPct val="20000"/>
        </a:spcBef>
        <a:spcAft>
          <a:spcPct val="0"/>
        </a:spcAft>
        <a:buClr>
          <a:schemeClr val="accent4">
            <a:lumMod val="75000"/>
          </a:schemeClr>
        </a:buClr>
        <a:buFont typeface="Arial" charset="0"/>
        <a:buChar char="–"/>
        <a:defRPr kumimoji="1" sz="2200">
          <a:solidFill>
            <a:schemeClr val="tx1"/>
          </a:solidFill>
          <a:latin typeface="+mj-lt"/>
          <a:ea typeface="+mn-ea"/>
        </a:defRPr>
      </a:lvl2pPr>
      <a:lvl3pPr marL="1143000" indent="-228600" algn="l" rtl="0" eaLnBrk="1" fontAlgn="base" hangingPunct="1">
        <a:spcBef>
          <a:spcPct val="20000"/>
        </a:spcBef>
        <a:spcAft>
          <a:spcPct val="0"/>
        </a:spcAft>
        <a:buFont typeface="Arial" charset="0"/>
        <a:buChar char="•"/>
        <a:defRPr kumimoji="1" sz="2200">
          <a:solidFill>
            <a:schemeClr val="tx1"/>
          </a:solidFill>
          <a:latin typeface="+mj-lt"/>
          <a:ea typeface="+mn-ea"/>
        </a:defRPr>
      </a:lvl3pPr>
      <a:lvl4pPr marL="1600200" indent="-228600" algn="l" rtl="0" eaLnBrk="1" fontAlgn="base" hangingPunct="1">
        <a:spcBef>
          <a:spcPct val="20000"/>
        </a:spcBef>
        <a:spcAft>
          <a:spcPct val="0"/>
        </a:spcAft>
        <a:buFont typeface="Arial" charset="0"/>
        <a:buChar char="–"/>
        <a:defRPr kumimoji="1" sz="2200">
          <a:solidFill>
            <a:schemeClr val="tx1"/>
          </a:solidFill>
          <a:latin typeface="+mj-lt"/>
          <a:ea typeface="+mn-ea"/>
        </a:defRPr>
      </a:lvl4pPr>
      <a:lvl5pPr marL="2057400" indent="-228600" algn="l" rtl="0" eaLnBrk="1" fontAlgn="base" hangingPunct="1">
        <a:spcBef>
          <a:spcPct val="20000"/>
        </a:spcBef>
        <a:spcAft>
          <a:spcPct val="0"/>
        </a:spcAft>
        <a:buFont typeface="Wingdings" pitchFamily="2" charset="2"/>
        <a:buChar char="$"/>
        <a:defRPr kumimoji="1" sz="2200">
          <a:solidFill>
            <a:schemeClr val="tx1"/>
          </a:solidFill>
          <a:latin typeface="+mj-lt"/>
          <a:ea typeface="+mn-ea"/>
        </a:defRPr>
      </a:lvl5pPr>
      <a:lvl6pPr marL="25146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6pPr>
      <a:lvl7pPr marL="29718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7pPr>
      <a:lvl8pPr marL="34290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8pPr>
      <a:lvl9pPr marL="38862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車車間通信を用いた衝突回避実験</a:t>
            </a:r>
          </a:p>
        </p:txBody>
      </p:sp>
      <p:sp>
        <p:nvSpPr>
          <p:cNvPr id="3" name="Subtitle 2"/>
          <p:cNvSpPr>
            <a:spLocks noGrp="1"/>
          </p:cNvSpPr>
          <p:nvPr>
            <p:ph type="subTitle" idx="1"/>
          </p:nvPr>
        </p:nvSpPr>
        <p:spPr/>
        <p:txBody>
          <a:bodyPr/>
          <a:lstStyle/>
          <a:p>
            <a:r>
              <a:t>第1回：実験概要の説明・実行環境の構築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246888" y="566928"/>
            <a:ext cx="8686800" cy="2148840"/>
          </a:xfrm>
        </p:spPr>
        <p:txBody>
          <a:bodyPr wrap="square"/>
          <a:lstStyle/>
          <a:p>
            <a:pPr>
              <a:spcAft>
                <a:spcPts val="400"/>
              </a:spcAft>
            </a:pPr>
            <a:r>
              <a:rPr sz="2000" b="1">
                <a:solidFill>
                  <a:srgbClr val="4F81BD"/>
                </a:solidFill>
              </a:rPr>
              <a:t>車車間通信を用いた衝突回避実験</a:t>
            </a:r>
          </a:p>
          <a:p>
            <a:pPr lvl="1">
              <a:spcAft>
                <a:spcPts val="400"/>
              </a:spcAft>
            </a:pPr>
            <a:r>
              <a:rPr sz="1800" b="0"/>
              <a:t>2台の車両が無線通信を行いながら走行する</a:t>
            </a:r>
          </a:p>
          <a:p>
            <a:pPr lvl="1">
              <a:spcAft>
                <a:spcPts val="400"/>
              </a:spcAft>
            </a:pPr>
            <a:r>
              <a:rPr sz="1800" b="0"/>
              <a:t>お互いの走行情報を利用して速度を調整する</a:t>
            </a:r>
          </a:p>
          <a:p>
            <a:pPr lvl="1">
              <a:spcAft>
                <a:spcPts val="400"/>
              </a:spcAft>
            </a:pPr>
            <a:r>
              <a:rPr sz="1800" b="0"/>
              <a:t>交差点での衝突を回避する制御を実験する</a:t>
            </a:r>
          </a:p>
        </p:txBody>
      </p:sp>
      <p:sp>
        <p:nvSpPr>
          <p:cNvPr id="3" name="Title 2"/>
          <p:cNvSpPr>
            <a:spLocks noGrp="1"/>
          </p:cNvSpPr>
          <p:nvPr>
            <p:ph type="title"/>
          </p:nvPr>
        </p:nvSpPr>
        <p:spPr/>
        <p:txBody>
          <a:bodyPr/>
          <a:lstStyle/>
          <a:p>
            <a:r>
              <a:t>1. </a:t>
            </a:r>
            <a:r>
              <a:t>実験概要</a:t>
            </a:r>
          </a:p>
        </p:txBody>
      </p:sp>
      <p:sp>
        <p:nvSpPr>
          <p:cNvPr id="4" name="Text Placeholder 3"/>
          <p:cNvSpPr>
            <a:spLocks noGrp="1"/>
          </p:cNvSpPr>
          <p:nvPr>
            <p:ph type="body" idx="10" sz="quarter"/>
          </p:nvPr>
        </p:nvSpPr>
        <p:spPr/>
        <p:txBody>
          <a:bodyPr/>
          <a:lstStyle/>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1/7</a:t>
            </a:r>
            <a:endParaRPr lang="ja-JP" altLang="en-US" dirty="0"/>
          </a:p>
        </p:txBody>
      </p:sp>
      <p:sp>
        <p:nvSpPr>
          <p:cNvPr id="8" name="Rounded Rectangle 7"/>
          <p:cNvSpPr/>
          <p:nvPr/>
        </p:nvSpPr>
        <p:spPr>
          <a:xfrm>
            <a:off x="365760" y="3063240"/>
            <a:ext cx="1417320" cy="5486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車両A</a:t>
            </a:r>
          </a:p>
        </p:txBody>
      </p:sp>
      <p:sp>
        <p:nvSpPr>
          <p:cNvPr id="9" name="Rounded Rectangle 8"/>
          <p:cNvSpPr/>
          <p:nvPr/>
        </p:nvSpPr>
        <p:spPr>
          <a:xfrm>
            <a:off x="365760" y="3840480"/>
            <a:ext cx="1417320" cy="548640"/>
          </a:xfrm>
          <a:prstGeom prst="roundRect">
            <a:avLst/>
          </a:prstGeom>
          <a:solidFill>
            <a:srgbClr val="4BAC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車両B</a:t>
            </a:r>
          </a:p>
        </p:txBody>
      </p:sp>
      <p:cxnSp>
        <p:nvCxnSpPr>
          <p:cNvPr id="10" name="Connector 9"/>
          <p:cNvCxnSpPr/>
          <p:nvPr/>
        </p:nvCxnSpPr>
        <p:spPr>
          <a:xfrm>
            <a:off x="1783080" y="3337560"/>
            <a:ext cx="548640" cy="27432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783080" y="3840480"/>
            <a:ext cx="548640" cy="27432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77440" y="3383280"/>
            <a:ext cx="1874519" cy="77724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4F81BD"/>
                </a:solidFill>
              </a:rPr>
              <a:t>車車間通信</a:t>
            </a:r>
          </a:p>
        </p:txBody>
      </p:sp>
      <p:cxnSp>
        <p:nvCxnSpPr>
          <p:cNvPr id="13" name="Connector 12"/>
          <p:cNvCxnSpPr/>
          <p:nvPr/>
        </p:nvCxnSpPr>
        <p:spPr>
          <a:xfrm>
            <a:off x="4251960" y="3771900"/>
            <a:ext cx="54864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46320" y="3383280"/>
            <a:ext cx="1874519" cy="77724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8A4B0E"/>
                </a:solidFill>
              </a:rPr>
              <a:t>衝突回避制御</a:t>
            </a:r>
          </a:p>
        </p:txBody>
      </p:sp>
      <p:cxnSp>
        <p:nvCxnSpPr>
          <p:cNvPr id="15" name="Connector 14"/>
          <p:cNvCxnSpPr/>
          <p:nvPr/>
        </p:nvCxnSpPr>
        <p:spPr>
          <a:xfrm>
            <a:off x="6720840" y="3771900"/>
            <a:ext cx="54864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0" y="3200400"/>
            <a:ext cx="1554480" cy="1143000"/>
          </a:xfrm>
          <a:prstGeom prst="roundRect">
            <a:avLst/>
          </a:prstGeom>
          <a:solidFill>
            <a:srgbClr val="EAF5E7"/>
          </a:solidFill>
          <a:ln w="15875">
            <a:solidFill>
              <a:srgbClr val="9BBB5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3F5C23"/>
                </a:solidFill>
              </a:rPr>
              <a:t>安全に</a:t>
            </a:r>
          </a:p>
          <a:p>
            <a:pPr algn="ctr"/>
            <a:r>
              <a:rPr sz="1300" b="1" i="0">
                <a:solidFill>
                  <a:srgbClr val="3F5C23"/>
                </a:solidFill>
              </a:rPr>
              <a:t>交差点を通過</a:t>
            </a:r>
          </a:p>
        </p:txBody>
      </p:sp>
      <p:sp>
        <p:nvSpPr>
          <p:cNvPr id="17" name="Rounded Rectangle 16"/>
          <p:cNvSpPr/>
          <p:nvPr/>
        </p:nvSpPr>
        <p:spPr>
          <a:xfrm>
            <a:off x="365760" y="5074920"/>
            <a:ext cx="8412480" cy="82296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33333"/>
                </a:solidFill>
              </a:rPr>
              <a:t/>
            </a:r>
          </a:p>
        </p:txBody>
      </p:sp>
      <p:sp>
        <p:nvSpPr>
          <p:cNvPr id="18" name="TextBox 17"/>
          <p:cNvSpPr txBox="1"/>
          <p:nvPr/>
        </p:nvSpPr>
        <p:spPr>
          <a:xfrm>
            <a:off x="868680" y="5074920"/>
            <a:ext cx="7726679" cy="822960"/>
          </a:xfrm>
          <a:prstGeom prst="rect">
            <a:avLst/>
          </a:prstGeom>
          <a:noFill/>
        </p:spPr>
        <p:txBody>
          <a:bodyPr wrap="square" anchor="ctr" lIns="0" rIns="0" tIns="0" bIns="0">
            <a:spAutoFit/>
          </a:bodyPr>
          <a:lstStyle/>
          <a:p>
            <a:pPr algn="l"/>
            <a:r>
              <a:rPr sz="1400" b="1" i="0">
                <a:solidFill>
                  <a:srgbClr val="8A4B0E"/>
                </a:solidFill>
              </a:rPr>
              <a:t>車両同士が直接情報を交換し、走行タイミングを調整することで衝突を回避する。</a:t>
            </a:r>
          </a:p>
        </p:txBody>
      </p:sp>
      <p:sp>
        <p:nvSpPr>
          <p:cNvPr id="19" name="Oval 18"/>
          <p:cNvSpPr/>
          <p:nvPr/>
        </p:nvSpPr>
        <p:spPr>
          <a:xfrm>
            <a:off x="502920" y="5340096"/>
            <a:ext cx="292608" cy="292608"/>
          </a:xfrm>
          <a:prstGeom prst="ellipse">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246888" y="566928"/>
            <a:ext cx="8686800" cy="1051560"/>
          </a:xfrm>
        </p:spPr>
        <p:txBody>
          <a:bodyPr wrap="square"/>
          <a:lstStyle/>
          <a:p>
            <a:pPr>
              <a:spcAft>
                <a:spcPts val="400"/>
              </a:spcAft>
            </a:pPr>
            <a:r>
              <a:rPr sz="1700" b="1">
                <a:solidFill>
                  <a:srgbClr val="4F81BD"/>
                </a:solidFill>
              </a:rPr>
              <a:t>背景</a:t>
            </a:r>
          </a:p>
          <a:p>
            <a:pPr lvl="1">
              <a:spcAft>
                <a:spcPts val="400"/>
              </a:spcAft>
            </a:pPr>
            <a:r>
              <a:rPr sz="1400" b="0"/>
              <a:t>自動運転では、交差点や合流部での衝突回避が重要</a:t>
            </a:r>
          </a:p>
          <a:p>
            <a:pPr lvl="1">
              <a:spcAft>
                <a:spcPts val="400"/>
              </a:spcAft>
            </a:pPr>
            <a:r>
              <a:rPr sz="1400" b="0"/>
              <a:t>車両の位置や速度などの情報を利用して衝突を回避する方法が研究されている</a:t>
            </a:r>
          </a:p>
        </p:txBody>
      </p:sp>
      <p:sp>
        <p:nvSpPr>
          <p:cNvPr id="3" name="Title 2"/>
          <p:cNvSpPr>
            <a:spLocks noGrp="1"/>
          </p:cNvSpPr>
          <p:nvPr>
            <p:ph type="title"/>
          </p:nvPr>
        </p:nvSpPr>
        <p:spPr/>
        <p:txBody>
          <a:bodyPr/>
          <a:lstStyle/>
          <a:p>
            <a:r>
              <a:t>2. </a:t>
            </a:r>
            <a:r>
              <a:t>V2IからV2Vへ</a:t>
            </a:r>
          </a:p>
        </p:txBody>
      </p:sp>
      <p:sp>
        <p:nvSpPr>
          <p:cNvPr id="4" name="Text Placeholder 3"/>
          <p:cNvSpPr>
            <a:spLocks noGrp="1"/>
          </p:cNvSpPr>
          <p:nvPr>
            <p:ph type="body" idx="10" sz="quarter"/>
          </p:nvPr>
        </p:nvSpPr>
        <p:spPr/>
        <p:txBody>
          <a:bodyPr/>
          <a:lstStyle/>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2/7</a:t>
            </a:r>
            <a:endParaRPr lang="ja-JP" altLang="en-US" dirty="0"/>
          </a:p>
        </p:txBody>
      </p:sp>
      <p:sp>
        <p:nvSpPr>
          <p:cNvPr id="8" name="Rounded Rectangle 7"/>
          <p:cNvSpPr/>
          <p:nvPr/>
        </p:nvSpPr>
        <p:spPr>
          <a:xfrm>
            <a:off x="365760" y="1828800"/>
            <a:ext cx="4114800" cy="502920"/>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V2I（Vehicle to Infrastructure）</a:t>
            </a:r>
          </a:p>
        </p:txBody>
      </p:sp>
      <p:sp>
        <p:nvSpPr>
          <p:cNvPr id="9" name="Rounded Rectangle 8"/>
          <p:cNvSpPr/>
          <p:nvPr/>
        </p:nvSpPr>
        <p:spPr>
          <a:xfrm>
            <a:off x="365760" y="2331720"/>
            <a:ext cx="4114800" cy="2331720"/>
          </a:xfrm>
          <a:prstGeom prst="roundRect">
            <a:avLst/>
          </a:prstGeom>
          <a:solidFill>
            <a:srgbClr val="F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33333"/>
                </a:solidFill>
              </a:rPr>
              <a:t/>
            </a:r>
          </a:p>
        </p:txBody>
      </p:sp>
      <p:sp>
        <p:nvSpPr>
          <p:cNvPr id="10" name="TextBox 9"/>
          <p:cNvSpPr txBox="1"/>
          <p:nvPr/>
        </p:nvSpPr>
        <p:spPr>
          <a:xfrm>
            <a:off x="594360" y="2468879"/>
            <a:ext cx="3657600" cy="2057400"/>
          </a:xfrm>
          <a:prstGeom prst="rect">
            <a:avLst/>
          </a:prstGeom>
          <a:noFill/>
        </p:spPr>
        <p:txBody>
          <a:bodyPr wrap="square" anchor="t" lIns="0" rIns="0" tIns="0" bIns="0">
            <a:spAutoFit/>
          </a:bodyPr>
          <a:lstStyle/>
          <a:p>
            <a:pPr algn="l"/>
            <a:r>
              <a:rPr sz="1300" b="0" i="0">
                <a:solidFill>
                  <a:srgbClr val="6B3A0C"/>
                </a:solidFill>
              </a:rPr>
              <a:t>・インフラ側のセンサで車両を検知</a:t>
            </a:r>
          </a:p>
          <a:p>
            <a:pPr algn="l"/>
            <a:r>
              <a:rPr sz="1300" b="0" i="0">
                <a:solidFill>
                  <a:srgbClr val="6B3A0C"/>
                </a:solidFill>
              </a:rPr>
              <a:t>・基地局などを経由して車両へ情報を送信</a:t>
            </a:r>
          </a:p>
          <a:p>
            <a:pPr algn="l"/>
            <a:r>
              <a:rPr sz="1300" b="0" i="0">
                <a:solidFill>
                  <a:srgbClr val="6B3A0C"/>
                </a:solidFill>
              </a:rPr>
              <a:t>・センサ・基地局などの設備が必要</a:t>
            </a:r>
          </a:p>
          <a:p>
            <a:pPr algn="l"/>
            <a:r>
              <a:rPr sz="1300" b="0" i="0">
                <a:solidFill>
                  <a:srgbClr val="6B3A0C"/>
                </a:solidFill>
              </a:rPr>
              <a:t>・設置・維持コストが課題</a:t>
            </a:r>
          </a:p>
        </p:txBody>
      </p:sp>
      <p:sp>
        <p:nvSpPr>
          <p:cNvPr id="11" name="Rounded Rectangle 10"/>
          <p:cNvSpPr/>
          <p:nvPr/>
        </p:nvSpPr>
        <p:spPr>
          <a:xfrm>
            <a:off x="4800600" y="1828800"/>
            <a:ext cx="4114800" cy="50292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V2V（Vehicle to Vehicle）</a:t>
            </a:r>
          </a:p>
        </p:txBody>
      </p:sp>
      <p:sp>
        <p:nvSpPr>
          <p:cNvPr id="12" name="Rounded Rectangle 11"/>
          <p:cNvSpPr/>
          <p:nvPr/>
        </p:nvSpPr>
        <p:spPr>
          <a:xfrm>
            <a:off x="4800600" y="2331720"/>
            <a:ext cx="4114800" cy="2331720"/>
          </a:xfrm>
          <a:prstGeom prst="round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33333"/>
                </a:solidFill>
              </a:rPr>
              <a:t/>
            </a:r>
          </a:p>
        </p:txBody>
      </p:sp>
      <p:sp>
        <p:nvSpPr>
          <p:cNvPr id="13" name="TextBox 12"/>
          <p:cNvSpPr txBox="1"/>
          <p:nvPr/>
        </p:nvSpPr>
        <p:spPr>
          <a:xfrm>
            <a:off x="5029200" y="2468879"/>
            <a:ext cx="3657600" cy="2057400"/>
          </a:xfrm>
          <a:prstGeom prst="rect">
            <a:avLst/>
          </a:prstGeom>
          <a:noFill/>
        </p:spPr>
        <p:txBody>
          <a:bodyPr wrap="square" anchor="t" lIns="0" rIns="0" tIns="0" bIns="0">
            <a:spAutoFit/>
          </a:bodyPr>
          <a:lstStyle/>
          <a:p>
            <a:pPr algn="l"/>
            <a:r>
              <a:rPr sz="1300" b="0" i="0">
                <a:solidFill>
                  <a:srgbClr val="1F3A5C"/>
                </a:solidFill>
              </a:rPr>
              <a:t>・車両同士が直接情報を交換</a:t>
            </a:r>
          </a:p>
          <a:p>
            <a:pPr algn="l"/>
            <a:r>
              <a:rPr sz="1300" b="0" i="0">
                <a:solidFill>
                  <a:srgbClr val="1F3A5C"/>
                </a:solidFill>
              </a:rPr>
              <a:t>・外部のセンサや基地局を必要としない</a:t>
            </a:r>
          </a:p>
          <a:p>
            <a:pPr algn="l"/>
            <a:r>
              <a:rPr sz="1300" b="0" i="0">
                <a:solidFill>
                  <a:srgbClr val="1F3A5C"/>
                </a:solidFill>
              </a:rPr>
              <a:t>・本実験ではV2V通信を利用する</a:t>
            </a:r>
          </a:p>
        </p:txBody>
      </p:sp>
      <p:sp>
        <p:nvSpPr>
          <p:cNvPr id="14" name="TextBox 13"/>
          <p:cNvSpPr txBox="1"/>
          <p:nvPr/>
        </p:nvSpPr>
        <p:spPr>
          <a:xfrm>
            <a:off x="365760" y="4892040"/>
            <a:ext cx="914400" cy="274320"/>
          </a:xfrm>
          <a:prstGeom prst="rect">
            <a:avLst/>
          </a:prstGeom>
          <a:noFill/>
        </p:spPr>
        <p:txBody>
          <a:bodyPr wrap="square" anchor="t" lIns="0" rIns="0" tIns="0" bIns="0">
            <a:spAutoFit/>
          </a:bodyPr>
          <a:lstStyle/>
          <a:p>
            <a:pPr algn="l"/>
            <a:r>
              <a:rPr sz="1100" b="1" i="0">
                <a:solidFill>
                  <a:srgbClr val="F79646"/>
                </a:solidFill>
              </a:rPr>
              <a:t>V2I</a:t>
            </a:r>
          </a:p>
        </p:txBody>
      </p:sp>
      <p:sp>
        <p:nvSpPr>
          <p:cNvPr id="15" name="Rounded Rectangle 14"/>
          <p:cNvSpPr/>
          <p:nvPr/>
        </p:nvSpPr>
        <p:spPr>
          <a:xfrm>
            <a:off x="1280160" y="4892040"/>
            <a:ext cx="1097280" cy="384048"/>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FFFFFF"/>
                </a:solidFill>
              </a:rPr>
              <a:t>車両A</a:t>
            </a:r>
          </a:p>
        </p:txBody>
      </p:sp>
      <p:cxnSp>
        <p:nvCxnSpPr>
          <p:cNvPr id="16" name="Connector 15"/>
          <p:cNvCxnSpPr/>
          <p:nvPr/>
        </p:nvCxnSpPr>
        <p:spPr>
          <a:xfrm>
            <a:off x="2377440" y="5084064"/>
            <a:ext cx="64008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017520" y="4892040"/>
            <a:ext cx="1280160" cy="384048"/>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333333"/>
                </a:solidFill>
              </a:rPr>
              <a:t>インフラ/基地局</a:t>
            </a:r>
          </a:p>
        </p:txBody>
      </p:sp>
      <p:cxnSp>
        <p:nvCxnSpPr>
          <p:cNvPr id="18" name="Connector 17"/>
          <p:cNvCxnSpPr/>
          <p:nvPr/>
        </p:nvCxnSpPr>
        <p:spPr>
          <a:xfrm>
            <a:off x="4297680" y="5084064"/>
            <a:ext cx="64008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37760" y="4892040"/>
            <a:ext cx="1097280" cy="384048"/>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FFFFFF"/>
                </a:solidFill>
              </a:rPr>
              <a:t>車両B</a:t>
            </a:r>
          </a:p>
        </p:txBody>
      </p:sp>
      <p:sp>
        <p:nvSpPr>
          <p:cNvPr id="20" name="TextBox 19"/>
          <p:cNvSpPr txBox="1"/>
          <p:nvPr/>
        </p:nvSpPr>
        <p:spPr>
          <a:xfrm>
            <a:off x="365760" y="5577840"/>
            <a:ext cx="914400" cy="274320"/>
          </a:xfrm>
          <a:prstGeom prst="rect">
            <a:avLst/>
          </a:prstGeom>
          <a:noFill/>
        </p:spPr>
        <p:txBody>
          <a:bodyPr wrap="square" anchor="t" lIns="0" rIns="0" tIns="0" bIns="0">
            <a:spAutoFit/>
          </a:bodyPr>
          <a:lstStyle/>
          <a:p>
            <a:pPr algn="l"/>
            <a:r>
              <a:rPr sz="1100" b="1" i="0">
                <a:solidFill>
                  <a:srgbClr val="4F81BD"/>
                </a:solidFill>
              </a:rPr>
              <a:t>V2V</a:t>
            </a:r>
          </a:p>
        </p:txBody>
      </p:sp>
      <p:sp>
        <p:nvSpPr>
          <p:cNvPr id="21" name="Rounded Rectangle 20"/>
          <p:cNvSpPr/>
          <p:nvPr/>
        </p:nvSpPr>
        <p:spPr>
          <a:xfrm>
            <a:off x="1280160" y="5577840"/>
            <a:ext cx="1097280" cy="384048"/>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FFFFFF"/>
                </a:solidFill>
              </a:rPr>
              <a:t>車両A</a:t>
            </a:r>
          </a:p>
        </p:txBody>
      </p:sp>
      <p:cxnSp>
        <p:nvCxnSpPr>
          <p:cNvPr id="22" name="Connector 21"/>
          <p:cNvCxnSpPr/>
          <p:nvPr/>
        </p:nvCxnSpPr>
        <p:spPr>
          <a:xfrm>
            <a:off x="2377440" y="5769864"/>
            <a:ext cx="2560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937760" y="5577840"/>
            <a:ext cx="1097280" cy="384048"/>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FFFFFF"/>
                </a:solidFill>
              </a:rPr>
              <a:t>車両B</a:t>
            </a:r>
          </a:p>
        </p:txBody>
      </p:sp>
      <p:sp>
        <p:nvSpPr>
          <p:cNvPr id="24" name="TextBox 23"/>
          <p:cNvSpPr txBox="1"/>
          <p:nvPr/>
        </p:nvSpPr>
        <p:spPr>
          <a:xfrm>
            <a:off x="2377440" y="5797296"/>
            <a:ext cx="2560320" cy="228600"/>
          </a:xfrm>
          <a:prstGeom prst="rect">
            <a:avLst/>
          </a:prstGeom>
          <a:noFill/>
        </p:spPr>
        <p:txBody>
          <a:bodyPr wrap="square" anchor="t" lIns="0" rIns="0" tIns="0" bIns="0">
            <a:spAutoFit/>
          </a:bodyPr>
          <a:lstStyle/>
          <a:p>
            <a:pPr algn="ctr"/>
            <a:r>
              <a:rPr sz="1000" b="0" i="1">
                <a:solidFill>
                  <a:srgbClr val="4F81BD"/>
                </a:solidFill>
              </a:rPr>
              <a:t>直接通信</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246888" y="566928"/>
            <a:ext cx="8686800" cy="1051560"/>
          </a:xfrm>
        </p:spPr>
        <p:txBody>
          <a:bodyPr wrap="square"/>
          <a:lstStyle/>
          <a:p>
            <a:pPr lvl="1">
              <a:spcAft>
                <a:spcPts val="400"/>
              </a:spcAft>
            </a:pPr>
            <a:r>
              <a:rPr sz="1500" b="0"/>
              <a:t>車両ごとにマイコンを搭載する</a:t>
            </a:r>
          </a:p>
          <a:p>
            <a:pPr lvl="1">
              <a:spcAft>
                <a:spcPts val="400"/>
              </a:spcAft>
            </a:pPr>
            <a:r>
              <a:rPr sz="1500" b="0"/>
              <a:t>車両同士はESP-NOWで無線通信する</a:t>
            </a:r>
          </a:p>
          <a:p>
            <a:pPr lvl="1">
              <a:spcAft>
                <a:spcPts val="400"/>
              </a:spcAft>
            </a:pPr>
            <a:r>
              <a:rPr sz="1500" b="0"/>
              <a:t>各車両の速度を制御し、衝突回避を行う</a:t>
            </a:r>
          </a:p>
        </p:txBody>
      </p:sp>
      <p:sp>
        <p:nvSpPr>
          <p:cNvPr id="3" name="Title 2"/>
          <p:cNvSpPr>
            <a:spLocks noGrp="1"/>
          </p:cNvSpPr>
          <p:nvPr>
            <p:ph type="title"/>
          </p:nvPr>
        </p:nvSpPr>
        <p:spPr/>
        <p:txBody>
          <a:bodyPr/>
          <a:lstStyle/>
          <a:p>
            <a:r>
              <a:t>3. </a:t>
            </a:r>
            <a:r>
              <a:t>実験システム</a:t>
            </a:r>
          </a:p>
        </p:txBody>
      </p:sp>
      <p:sp>
        <p:nvSpPr>
          <p:cNvPr id="4" name="Text Placeholder 3"/>
          <p:cNvSpPr>
            <a:spLocks noGrp="1"/>
          </p:cNvSpPr>
          <p:nvPr>
            <p:ph type="body" idx="10" sz="quarter"/>
          </p:nvPr>
        </p:nvSpPr>
        <p:spPr/>
        <p:txBody>
          <a:bodyPr/>
          <a:lstStyle/>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3/7</a:t>
            </a:r>
            <a:endParaRPr lang="ja-JP" altLang="en-US" dirty="0"/>
          </a:p>
        </p:txBody>
      </p:sp>
      <p:sp>
        <p:nvSpPr>
          <p:cNvPr id="8" name="Rounded Rectangle 7"/>
          <p:cNvSpPr/>
          <p:nvPr/>
        </p:nvSpPr>
        <p:spPr>
          <a:xfrm>
            <a:off x="822960" y="2057400"/>
            <a:ext cx="3017520" cy="265176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33333"/>
                </a:solidFill>
              </a:rPr>
              <a:t/>
            </a:r>
          </a:p>
        </p:txBody>
      </p:sp>
      <p:sp>
        <p:nvSpPr>
          <p:cNvPr id="9" name="Rounded Rectangle 8"/>
          <p:cNvSpPr/>
          <p:nvPr/>
        </p:nvSpPr>
        <p:spPr>
          <a:xfrm>
            <a:off x="5029200" y="2057400"/>
            <a:ext cx="3017520" cy="2651760"/>
          </a:xfrm>
          <a:prstGeom prst="roundRect">
            <a:avLst/>
          </a:prstGeom>
          <a:solidFill>
            <a:srgbClr val="E9F6F7"/>
          </a:solidFill>
          <a:ln w="15875">
            <a:solidFill>
              <a:srgbClr val="4BACC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33333"/>
                </a:solidFill>
              </a:rPr>
              <a:t/>
            </a:r>
          </a:p>
        </p:txBody>
      </p:sp>
      <p:sp>
        <p:nvSpPr>
          <p:cNvPr id="10" name="TextBox 9"/>
          <p:cNvSpPr txBox="1"/>
          <p:nvPr/>
        </p:nvSpPr>
        <p:spPr>
          <a:xfrm>
            <a:off x="822960" y="2103120"/>
            <a:ext cx="3017520" cy="320040"/>
          </a:xfrm>
          <a:prstGeom prst="rect">
            <a:avLst/>
          </a:prstGeom>
          <a:noFill/>
        </p:spPr>
        <p:txBody>
          <a:bodyPr wrap="square" anchor="t" lIns="0" rIns="0" tIns="0" bIns="0">
            <a:spAutoFit/>
          </a:bodyPr>
          <a:lstStyle/>
          <a:p>
            <a:pPr algn="ctr"/>
            <a:r>
              <a:rPr sz="1500" b="1" i="0">
                <a:solidFill>
                  <a:srgbClr val="4F81BD"/>
                </a:solidFill>
              </a:rPr>
              <a:t>車両A</a:t>
            </a:r>
          </a:p>
        </p:txBody>
      </p:sp>
      <p:sp>
        <p:nvSpPr>
          <p:cNvPr id="11" name="TextBox 10"/>
          <p:cNvSpPr txBox="1"/>
          <p:nvPr/>
        </p:nvSpPr>
        <p:spPr>
          <a:xfrm>
            <a:off x="5029200" y="2103120"/>
            <a:ext cx="3017520" cy="320040"/>
          </a:xfrm>
          <a:prstGeom prst="rect">
            <a:avLst/>
          </a:prstGeom>
          <a:noFill/>
        </p:spPr>
        <p:txBody>
          <a:bodyPr wrap="square" anchor="t" lIns="0" rIns="0" tIns="0" bIns="0">
            <a:spAutoFit/>
          </a:bodyPr>
          <a:lstStyle/>
          <a:p>
            <a:pPr algn="ctr"/>
            <a:r>
              <a:rPr sz="1500" b="1" i="0">
                <a:solidFill>
                  <a:srgbClr val="1B6E7D"/>
                </a:solidFill>
              </a:rPr>
              <a:t>車両B</a:t>
            </a:r>
          </a:p>
        </p:txBody>
      </p:sp>
      <p:sp>
        <p:nvSpPr>
          <p:cNvPr id="12" name="Rounded Rectangle 11"/>
          <p:cNvSpPr/>
          <p:nvPr/>
        </p:nvSpPr>
        <p:spPr>
          <a:xfrm>
            <a:off x="1143000" y="2514600"/>
            <a:ext cx="2377439" cy="45720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ESP32</a:t>
            </a:r>
          </a:p>
        </p:txBody>
      </p:sp>
      <p:sp>
        <p:nvSpPr>
          <p:cNvPr id="13" name="Rounded Rectangle 12"/>
          <p:cNvSpPr/>
          <p:nvPr/>
        </p:nvSpPr>
        <p:spPr>
          <a:xfrm>
            <a:off x="5349240" y="2514600"/>
            <a:ext cx="2377439" cy="457200"/>
          </a:xfrm>
          <a:prstGeom prst="roundRect">
            <a:avLst/>
          </a:prstGeom>
          <a:solidFill>
            <a:srgbClr val="4BAC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ESP32</a:t>
            </a:r>
          </a:p>
        </p:txBody>
      </p:sp>
      <p:cxnSp>
        <p:nvCxnSpPr>
          <p:cNvPr id="14" name="Connector 13"/>
          <p:cNvCxnSpPr/>
          <p:nvPr/>
        </p:nvCxnSpPr>
        <p:spPr>
          <a:xfrm>
            <a:off x="2331720" y="2971800"/>
            <a:ext cx="0" cy="3200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37960" y="2971800"/>
            <a:ext cx="0" cy="3200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143000" y="3291840"/>
            <a:ext cx="2377439" cy="548640"/>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4F81BD"/>
                </a:solidFill>
              </a:rPr>
              <a:t>速度制御</a:t>
            </a:r>
          </a:p>
          <a:p>
            <a:pPr algn="ctr"/>
            <a:r>
              <a:rPr sz="1200" b="1" i="0">
                <a:solidFill>
                  <a:srgbClr val="4F81BD"/>
                </a:solidFill>
              </a:rPr>
              <a:t>(PID)</a:t>
            </a:r>
          </a:p>
        </p:txBody>
      </p:sp>
      <p:sp>
        <p:nvSpPr>
          <p:cNvPr id="17" name="Rounded Rectangle 16"/>
          <p:cNvSpPr/>
          <p:nvPr/>
        </p:nvSpPr>
        <p:spPr>
          <a:xfrm>
            <a:off x="5349240" y="3291840"/>
            <a:ext cx="2377439" cy="548640"/>
          </a:xfrm>
          <a:prstGeom prst="roundRect">
            <a:avLst/>
          </a:prstGeom>
          <a:solidFill>
            <a:srgbClr val="FFFFFF"/>
          </a:solidFill>
          <a:ln w="15875">
            <a:solidFill>
              <a:srgbClr val="4BACC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B6E7D"/>
                </a:solidFill>
              </a:rPr>
              <a:t>速度制御</a:t>
            </a:r>
          </a:p>
          <a:p>
            <a:pPr algn="ctr"/>
            <a:r>
              <a:rPr sz="1200" b="1" i="0">
                <a:solidFill>
                  <a:srgbClr val="1B6E7D"/>
                </a:solidFill>
              </a:rPr>
              <a:t>(PID)</a:t>
            </a:r>
          </a:p>
        </p:txBody>
      </p:sp>
      <p:cxnSp>
        <p:nvCxnSpPr>
          <p:cNvPr id="18" name="Connector 17"/>
          <p:cNvCxnSpPr/>
          <p:nvPr/>
        </p:nvCxnSpPr>
        <p:spPr>
          <a:xfrm>
            <a:off x="2331720" y="3840480"/>
            <a:ext cx="0" cy="3200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37960" y="3840480"/>
            <a:ext cx="0" cy="3200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417320" y="4160520"/>
            <a:ext cx="1828799" cy="457200"/>
          </a:xfrm>
          <a:prstGeom prst="roundRect">
            <a:avLst/>
          </a:prstGeom>
          <a:solidFill>
            <a:srgbClr val="EEEEEE"/>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333333"/>
                </a:solidFill>
              </a:rPr>
              <a:t>モータ</a:t>
            </a:r>
          </a:p>
        </p:txBody>
      </p:sp>
      <p:sp>
        <p:nvSpPr>
          <p:cNvPr id="21" name="Rounded Rectangle 20"/>
          <p:cNvSpPr/>
          <p:nvPr/>
        </p:nvSpPr>
        <p:spPr>
          <a:xfrm>
            <a:off x="5623560" y="4160520"/>
            <a:ext cx="1828799" cy="457200"/>
          </a:xfrm>
          <a:prstGeom prst="roundRect">
            <a:avLst/>
          </a:prstGeom>
          <a:solidFill>
            <a:srgbClr val="EEEEEE"/>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333333"/>
                </a:solidFill>
              </a:rPr>
              <a:t>モータ</a:t>
            </a:r>
          </a:p>
        </p:txBody>
      </p:sp>
      <p:cxnSp>
        <p:nvCxnSpPr>
          <p:cNvPr id="22" name="Connector 21"/>
          <p:cNvCxnSpPr/>
          <p:nvPr/>
        </p:nvCxnSpPr>
        <p:spPr>
          <a:xfrm>
            <a:off x="3840480" y="2743200"/>
            <a:ext cx="11887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840480" y="2834640"/>
            <a:ext cx="11887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840480" y="1737360"/>
            <a:ext cx="1188719" cy="320040"/>
          </a:xfrm>
          <a:prstGeom prst="rect">
            <a:avLst/>
          </a:prstGeom>
          <a:noFill/>
        </p:spPr>
        <p:txBody>
          <a:bodyPr wrap="square" anchor="t" lIns="0" rIns="0" tIns="0" bIns="0">
            <a:spAutoFit/>
          </a:bodyPr>
          <a:lstStyle/>
          <a:p>
            <a:pPr algn="ctr"/>
            <a:r>
              <a:rPr sz="1300" b="1" i="0">
                <a:solidFill>
                  <a:srgbClr val="C0504D"/>
                </a:solidFill>
              </a:rPr>
              <a:t>ESP-NOW</a:t>
            </a:r>
          </a:p>
        </p:txBody>
      </p:sp>
      <p:cxnSp>
        <p:nvCxnSpPr>
          <p:cNvPr id="25" name="Connector 24"/>
          <p:cNvCxnSpPr/>
          <p:nvPr/>
        </p:nvCxnSpPr>
        <p:spPr>
          <a:xfrm>
            <a:off x="2331720" y="4709160"/>
            <a:ext cx="2103120" cy="45720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434840" y="4709160"/>
            <a:ext cx="2103120" cy="45720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428999" y="5166360"/>
            <a:ext cx="2011680" cy="502920"/>
          </a:xfrm>
          <a:prstGeom prst="round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衝突回避</a:t>
            </a:r>
          </a:p>
        </p:txBody>
      </p:sp>
      <p:sp>
        <p:nvSpPr>
          <p:cNvPr id="28" name="TextBox 27"/>
          <p:cNvSpPr txBox="1"/>
          <p:nvPr/>
        </p:nvSpPr>
        <p:spPr>
          <a:xfrm>
            <a:off x="365760" y="6263640"/>
            <a:ext cx="8412480" cy="457200"/>
          </a:xfrm>
          <a:prstGeom prst="rect">
            <a:avLst/>
          </a:prstGeom>
          <a:noFill/>
        </p:spPr>
        <p:txBody>
          <a:bodyPr wrap="square" anchor="t" lIns="0" rIns="0" tIns="0" bIns="0">
            <a:spAutoFit/>
          </a:bodyPr>
          <a:lstStyle/>
          <a:p>
            <a:pPr algn="ctr"/>
            <a:r>
              <a:rPr sz="1050" b="0" i="0">
                <a:solidFill>
                  <a:srgbClr val="666666"/>
                </a:solidFill>
              </a:rPr>
              <a:t>ESP32：車両の制御・通信を担当　|　ESP-NOW：車両間の無線通信</a:t>
            </a:r>
          </a:p>
          <a:p>
            <a:pPr algn="ctr"/>
            <a:r>
              <a:rPr sz="1050" b="0" i="0">
                <a:solidFill>
                  <a:srgbClr val="666666"/>
                </a:solidFill>
              </a:rPr>
              <a:t>PID制御：車両の速度を目標値に制御　|　衝突回避制御：車両間の情報で走行タイミングを調整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246888" y="566928"/>
            <a:ext cx="5029200" cy="3840480"/>
          </a:xfrm>
        </p:spPr>
        <p:txBody>
          <a:bodyPr wrap="square"/>
          <a:lstStyle/>
          <a:p>
            <a:pPr>
              <a:spcAft>
                <a:spcPts val="400"/>
              </a:spcAft>
            </a:pPr>
            <a:r>
              <a:rPr sz="1700" b="1">
                <a:solidFill>
                  <a:srgbClr val="4F81BD"/>
                </a:solidFill>
              </a:rPr>
              <a:t>ESP-NOWとは</a:t>
            </a:r>
          </a:p>
          <a:p>
            <a:pPr lvl="1">
              <a:spcAft>
                <a:spcPts val="400"/>
              </a:spcAft>
            </a:pPr>
            <a:r>
              <a:rPr sz="1400" b="0"/>
              <a:t>ESP32などのデバイス間で利用できる無線通信方式</a:t>
            </a:r>
          </a:p>
          <a:p>
            <a:pPr lvl="1">
              <a:spcAft>
                <a:spcPts val="400"/>
              </a:spcAft>
            </a:pPr>
            <a:r>
              <a:rPr sz="1400" b="0"/>
              <a:t>Wi-Fiのようにアクセスポイントを介さず、デバイス同士で通信できる</a:t>
            </a:r>
          </a:p>
          <a:p>
            <a:pPr lvl="1">
              <a:spcAft>
                <a:spcPts val="400"/>
              </a:spcAft>
            </a:pPr>
            <a:r>
              <a:rPr sz="1400" b="0"/>
              <a:t>本実験では車両同士の情報交換に利用する</a:t>
            </a:r>
          </a:p>
          <a:p>
            <a:pPr>
              <a:spcAft>
                <a:spcPts val="400"/>
              </a:spcAft>
            </a:pPr>
            <a:r>
              <a:rPr sz="1700" b="1">
                <a:solidFill>
                  <a:srgbClr val="4F81BD"/>
                </a:solidFill>
              </a:rPr>
              <a:t>本実験で利用する情報</a:t>
            </a:r>
          </a:p>
          <a:p>
            <a:pPr lvl="1">
              <a:spcAft>
                <a:spcPts val="400"/>
              </a:spcAft>
            </a:pPr>
            <a:r>
              <a:rPr sz="1400" b="0"/>
              <a:t>車両の走行状態</a:t>
            </a:r>
          </a:p>
          <a:p>
            <a:pPr lvl="1">
              <a:spcAft>
                <a:spcPts val="400"/>
              </a:spcAft>
            </a:pPr>
            <a:r>
              <a:rPr sz="1400" b="0"/>
              <a:t>交差点までの到達予測時間</a:t>
            </a:r>
          </a:p>
          <a:p>
            <a:pPr lvl="1">
              <a:spcAft>
                <a:spcPts val="400"/>
              </a:spcAft>
            </a:pPr>
            <a:r>
              <a:rPr sz="1400" b="0"/>
              <a:t>衝突回避制御に必要な情報</a:t>
            </a:r>
          </a:p>
        </p:txBody>
      </p:sp>
      <p:sp>
        <p:nvSpPr>
          <p:cNvPr id="3" name="Title 2"/>
          <p:cNvSpPr>
            <a:spLocks noGrp="1"/>
          </p:cNvSpPr>
          <p:nvPr>
            <p:ph type="title"/>
          </p:nvPr>
        </p:nvSpPr>
        <p:spPr/>
        <p:txBody>
          <a:bodyPr/>
          <a:lstStyle/>
          <a:p>
            <a:r>
              <a:t>4. </a:t>
            </a:r>
            <a:r>
              <a:t>車両間通信：ESP-NOW</a:t>
            </a:r>
          </a:p>
        </p:txBody>
      </p:sp>
      <p:sp>
        <p:nvSpPr>
          <p:cNvPr id="4" name="Text Placeholder 3"/>
          <p:cNvSpPr>
            <a:spLocks noGrp="1"/>
          </p:cNvSpPr>
          <p:nvPr>
            <p:ph type="body" idx="10" sz="quarter"/>
          </p:nvPr>
        </p:nvSpPr>
        <p:spPr/>
        <p:txBody>
          <a:bodyPr/>
          <a:lstStyle/>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4/7</a:t>
            </a:r>
            <a:endParaRPr lang="ja-JP" altLang="en-US" dirty="0"/>
          </a:p>
        </p:txBody>
      </p:sp>
      <p:sp>
        <p:nvSpPr>
          <p:cNvPr id="8" name="TextBox 7"/>
          <p:cNvSpPr txBox="1"/>
          <p:nvPr/>
        </p:nvSpPr>
        <p:spPr>
          <a:xfrm>
            <a:off x="5669280" y="640080"/>
            <a:ext cx="2651760" cy="274320"/>
          </a:xfrm>
          <a:prstGeom prst="rect">
            <a:avLst/>
          </a:prstGeom>
          <a:noFill/>
        </p:spPr>
        <p:txBody>
          <a:bodyPr wrap="square" anchor="t" lIns="0" rIns="0" tIns="0" bIns="0">
            <a:spAutoFit/>
          </a:bodyPr>
          <a:lstStyle/>
          <a:p>
            <a:pPr algn="ctr"/>
            <a:r>
              <a:rPr sz="1300" b="1" i="0">
                <a:solidFill>
                  <a:srgbClr val="C0504D"/>
                </a:solidFill>
              </a:rPr>
              <a:t>ESP-NOW</a:t>
            </a:r>
          </a:p>
        </p:txBody>
      </p:sp>
      <p:sp>
        <p:nvSpPr>
          <p:cNvPr id="9" name="Rounded Rectangle 8"/>
          <p:cNvSpPr/>
          <p:nvPr/>
        </p:nvSpPr>
        <p:spPr>
          <a:xfrm>
            <a:off x="5669280" y="1005840"/>
            <a:ext cx="1234440" cy="82296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ESP32 A</a:t>
            </a:r>
          </a:p>
        </p:txBody>
      </p:sp>
      <p:sp>
        <p:nvSpPr>
          <p:cNvPr id="10" name="Rounded Rectangle 9"/>
          <p:cNvSpPr/>
          <p:nvPr/>
        </p:nvSpPr>
        <p:spPr>
          <a:xfrm>
            <a:off x="7269480" y="1005840"/>
            <a:ext cx="1234440" cy="822960"/>
          </a:xfrm>
          <a:prstGeom prst="roundRect">
            <a:avLst/>
          </a:prstGeom>
          <a:solidFill>
            <a:srgbClr val="4BAC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ESP32 B</a:t>
            </a:r>
          </a:p>
        </p:txBody>
      </p:sp>
      <p:cxnSp>
        <p:nvCxnSpPr>
          <p:cNvPr id="11" name="Connector 10"/>
          <p:cNvCxnSpPr/>
          <p:nvPr/>
        </p:nvCxnSpPr>
        <p:spPr>
          <a:xfrm>
            <a:off x="6903720" y="1280160"/>
            <a:ext cx="36576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6903720" y="1554480"/>
            <a:ext cx="36576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0" y="1920240"/>
            <a:ext cx="1234440" cy="274320"/>
          </a:xfrm>
          <a:prstGeom prst="rect">
            <a:avLst/>
          </a:prstGeom>
          <a:noFill/>
        </p:spPr>
        <p:txBody>
          <a:bodyPr wrap="square" anchor="t" lIns="0" rIns="0" tIns="0" bIns="0">
            <a:spAutoFit/>
          </a:bodyPr>
          <a:lstStyle/>
          <a:p>
            <a:pPr algn="ctr"/>
            <a:r>
              <a:rPr sz="1200" b="1" i="0">
                <a:solidFill>
                  <a:srgbClr val="4F81BD"/>
                </a:solidFill>
              </a:rPr>
              <a:t>車両A</a:t>
            </a:r>
          </a:p>
        </p:txBody>
      </p:sp>
      <p:sp>
        <p:nvSpPr>
          <p:cNvPr id="14" name="TextBox 13"/>
          <p:cNvSpPr txBox="1"/>
          <p:nvPr/>
        </p:nvSpPr>
        <p:spPr>
          <a:xfrm>
            <a:off x="7269480" y="1920240"/>
            <a:ext cx="1234440" cy="274320"/>
          </a:xfrm>
          <a:prstGeom prst="rect">
            <a:avLst/>
          </a:prstGeom>
          <a:noFill/>
        </p:spPr>
        <p:txBody>
          <a:bodyPr wrap="square" anchor="t" lIns="0" rIns="0" tIns="0" bIns="0">
            <a:spAutoFit/>
          </a:bodyPr>
          <a:lstStyle/>
          <a:p>
            <a:pPr algn="ctr"/>
            <a:r>
              <a:rPr sz="1200" b="1" i="0">
                <a:solidFill>
                  <a:srgbClr val="1B6E7D"/>
                </a:solidFill>
              </a:rPr>
              <a:t>車両B</a:t>
            </a:r>
          </a:p>
        </p:txBody>
      </p:sp>
      <p:sp>
        <p:nvSpPr>
          <p:cNvPr id="15" name="Rounded Rectangle 14"/>
          <p:cNvSpPr/>
          <p:nvPr/>
        </p:nvSpPr>
        <p:spPr>
          <a:xfrm>
            <a:off x="5532120" y="2560320"/>
            <a:ext cx="2926080" cy="1417320"/>
          </a:xfrm>
          <a:prstGeom prst="roundRect">
            <a:avLst/>
          </a:prstGeom>
          <a:solidFill>
            <a:srgbClr val="F4F7FB"/>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33333"/>
                </a:solidFill>
              </a:rPr>
              <a:t/>
            </a:r>
          </a:p>
        </p:txBody>
      </p:sp>
      <p:sp>
        <p:nvSpPr>
          <p:cNvPr id="16" name="TextBox 15"/>
          <p:cNvSpPr txBox="1"/>
          <p:nvPr/>
        </p:nvSpPr>
        <p:spPr>
          <a:xfrm>
            <a:off x="5715000" y="2697480"/>
            <a:ext cx="2560320" cy="1188720"/>
          </a:xfrm>
          <a:prstGeom prst="rect">
            <a:avLst/>
          </a:prstGeom>
          <a:noFill/>
        </p:spPr>
        <p:txBody>
          <a:bodyPr wrap="square" anchor="t" lIns="0" rIns="0" tIns="0" bIns="0">
            <a:spAutoFit/>
          </a:bodyPr>
          <a:lstStyle/>
          <a:p>
            <a:pPr algn="l"/>
            <a:r>
              <a:rPr sz="1150" b="0" i="0">
                <a:solidFill>
                  <a:srgbClr val="333333"/>
                </a:solidFill>
              </a:rPr>
              <a:t>この回での扱い</a:t>
            </a:r>
          </a:p>
          <a:p>
            <a:pPr algn="l"/>
            <a:r>
              <a:rPr sz="1150" b="0" i="0">
                <a:solidFill>
                  <a:srgbClr val="333333"/>
                </a:solidFill>
              </a:rPr>
              <a:t>・今回はESP-NOWの概要と利用目的を理解する</a:t>
            </a:r>
          </a:p>
          <a:p>
            <a:pPr algn="l"/>
            <a:r>
              <a:rPr sz="1150" b="0" i="0">
                <a:solidFill>
                  <a:srgbClr val="333333"/>
                </a:solidFill>
              </a:rPr>
              <a:t>・詳細な通信方法・プログラムは第2回で扱う</a:t>
            </a:r>
          </a:p>
        </p:txBody>
      </p:sp>
      <p:sp>
        <p:nvSpPr>
          <p:cNvPr id="17" name="Rounded Rectangle 16"/>
          <p:cNvSpPr/>
          <p:nvPr/>
        </p:nvSpPr>
        <p:spPr>
          <a:xfrm>
            <a:off x="246888" y="5074920"/>
            <a:ext cx="8412480" cy="82296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33333"/>
                </a:solidFill>
              </a:rPr>
              <a:t/>
            </a:r>
          </a:p>
        </p:txBody>
      </p:sp>
      <p:sp>
        <p:nvSpPr>
          <p:cNvPr id="18" name="TextBox 17"/>
          <p:cNvSpPr txBox="1"/>
          <p:nvPr/>
        </p:nvSpPr>
        <p:spPr>
          <a:xfrm>
            <a:off x="749808" y="5074920"/>
            <a:ext cx="7726679" cy="822960"/>
          </a:xfrm>
          <a:prstGeom prst="rect">
            <a:avLst/>
          </a:prstGeom>
          <a:noFill/>
        </p:spPr>
        <p:txBody>
          <a:bodyPr wrap="square" anchor="ctr" lIns="0" rIns="0" tIns="0" bIns="0">
            <a:spAutoFit/>
          </a:bodyPr>
          <a:lstStyle/>
          <a:p>
            <a:pPr algn="l"/>
            <a:r>
              <a:rPr sz="1400" b="1" i="0">
                <a:solidFill>
                  <a:srgbClr val="8A4B0E"/>
                </a:solidFill>
              </a:rPr>
              <a:t>ESP-NOWを使って、車両同士が衝突回避に必要な情報を直接交換する。</a:t>
            </a:r>
          </a:p>
        </p:txBody>
      </p:sp>
      <p:sp>
        <p:nvSpPr>
          <p:cNvPr id="19" name="Oval 18"/>
          <p:cNvSpPr/>
          <p:nvPr/>
        </p:nvSpPr>
        <p:spPr>
          <a:xfrm>
            <a:off x="384048" y="5340096"/>
            <a:ext cx="292608" cy="292608"/>
          </a:xfrm>
          <a:prstGeom prst="ellipse">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246888" y="566928"/>
            <a:ext cx="8686800" cy="777240"/>
          </a:xfrm>
        </p:spPr>
        <p:txBody>
          <a:bodyPr wrap="square"/>
          <a:lstStyle/>
          <a:p>
            <a:pPr lvl="1">
              <a:spcAft>
                <a:spcPts val="400"/>
              </a:spcAft>
            </a:pPr>
            <a:r>
              <a:rPr sz="1500" b="0"/>
              <a:t>車両を狙った速度で走行させるためにPID制御を利用する</a:t>
            </a:r>
          </a:p>
          <a:p>
            <a:pPr lvl="1">
              <a:spcAft>
                <a:spcPts val="400"/>
              </a:spcAft>
            </a:pPr>
            <a:r>
              <a:rPr sz="1500" b="0"/>
              <a:t>PIDゲインを調整し、安定した速度制御を実現する</a:t>
            </a:r>
          </a:p>
        </p:txBody>
      </p:sp>
      <p:sp>
        <p:nvSpPr>
          <p:cNvPr id="3" name="Title 2"/>
          <p:cNvSpPr>
            <a:spLocks noGrp="1"/>
          </p:cNvSpPr>
          <p:nvPr>
            <p:ph type="title"/>
          </p:nvPr>
        </p:nvSpPr>
        <p:spPr/>
        <p:txBody>
          <a:bodyPr/>
          <a:lstStyle/>
          <a:p>
            <a:r>
              <a:t>5. </a:t>
            </a:r>
            <a:r>
              <a:t>PID制御による車両の速度制御</a:t>
            </a:r>
          </a:p>
        </p:txBody>
      </p:sp>
      <p:sp>
        <p:nvSpPr>
          <p:cNvPr id="4" name="Text Placeholder 3"/>
          <p:cNvSpPr>
            <a:spLocks noGrp="1"/>
          </p:cNvSpPr>
          <p:nvPr>
            <p:ph type="body" idx="10" sz="quarter"/>
          </p:nvPr>
        </p:nvSpPr>
        <p:spPr/>
        <p:txBody>
          <a:bodyPr/>
          <a:lstStyle/>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5/7</a:t>
            </a:r>
            <a:endParaRPr lang="ja-JP" altLang="en-US" dirty="0"/>
          </a:p>
        </p:txBody>
      </p:sp>
      <p:sp>
        <p:nvSpPr>
          <p:cNvPr id="8" name="TextBox 7"/>
          <p:cNvSpPr txBox="1"/>
          <p:nvPr/>
        </p:nvSpPr>
        <p:spPr>
          <a:xfrm>
            <a:off x="320040" y="1664208"/>
            <a:ext cx="914400" cy="329184"/>
          </a:xfrm>
          <a:prstGeom prst="rect">
            <a:avLst/>
          </a:prstGeom>
          <a:noFill/>
        </p:spPr>
        <p:txBody>
          <a:bodyPr wrap="square" anchor="t" lIns="0" rIns="0" tIns="0" bIns="0">
            <a:spAutoFit/>
          </a:bodyPr>
          <a:lstStyle/>
          <a:p>
            <a:pPr algn="ctr"/>
            <a:r>
              <a:rPr sz="1100" b="1" i="0">
                <a:solidFill>
                  <a:srgbClr val="333333"/>
                </a:solidFill>
              </a:rPr>
              <a:t>目標</a:t>
            </a:r>
          </a:p>
          <a:p>
            <a:pPr algn="ctr"/>
            <a:r>
              <a:rPr sz="1100" b="1" i="0">
                <a:solidFill>
                  <a:srgbClr val="333333"/>
                </a:solidFill>
              </a:rPr>
              <a:t>速度</a:t>
            </a:r>
          </a:p>
        </p:txBody>
      </p:sp>
      <p:cxnSp>
        <p:nvCxnSpPr>
          <p:cNvPr id="9" name="Connector 8"/>
          <p:cNvCxnSpPr/>
          <p:nvPr/>
        </p:nvCxnSpPr>
        <p:spPr>
          <a:xfrm>
            <a:off x="1234440" y="1828800"/>
            <a:ext cx="274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508760" y="1508760"/>
            <a:ext cx="1417320" cy="64008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PID</a:t>
            </a:r>
          </a:p>
          <a:p>
            <a:pPr algn="ctr"/>
            <a:r>
              <a:rPr sz="1200" b="1" i="0">
                <a:solidFill>
                  <a:srgbClr val="FFFFFF"/>
                </a:solidFill>
              </a:rPr>
              <a:t>Controller</a:t>
            </a:r>
          </a:p>
        </p:txBody>
      </p:sp>
      <p:cxnSp>
        <p:nvCxnSpPr>
          <p:cNvPr id="11" name="Connector 10"/>
          <p:cNvCxnSpPr/>
          <p:nvPr/>
        </p:nvCxnSpPr>
        <p:spPr>
          <a:xfrm>
            <a:off x="2926080" y="1828800"/>
            <a:ext cx="274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00400" y="1508760"/>
            <a:ext cx="1188720" cy="640080"/>
          </a:xfrm>
          <a:prstGeom prst="roundRect">
            <a:avLst/>
          </a:prstGeom>
          <a:solidFill>
            <a:srgbClr val="EEEEEE"/>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333333"/>
                </a:solidFill>
              </a:rPr>
              <a:t>モータ</a:t>
            </a:r>
          </a:p>
        </p:txBody>
      </p:sp>
      <p:cxnSp>
        <p:nvCxnSpPr>
          <p:cNvPr id="13" name="Connector 12"/>
          <p:cNvCxnSpPr/>
          <p:nvPr/>
        </p:nvCxnSpPr>
        <p:spPr>
          <a:xfrm>
            <a:off x="4389120" y="1828800"/>
            <a:ext cx="274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663440" y="1508760"/>
            <a:ext cx="1188720" cy="640080"/>
          </a:xfrm>
          <a:prstGeom prst="roundRect">
            <a:avLst/>
          </a:prstGeom>
          <a:solidFill>
            <a:srgbClr val="EAF5E7"/>
          </a:solidFill>
          <a:ln w="15875">
            <a:solidFill>
              <a:srgbClr val="9BBB5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333333"/>
                </a:solidFill>
              </a:rPr>
              <a:t>車両</a:t>
            </a:r>
          </a:p>
        </p:txBody>
      </p:sp>
      <p:cxnSp>
        <p:nvCxnSpPr>
          <p:cNvPr id="15" name="Connector 14"/>
          <p:cNvCxnSpPr/>
          <p:nvPr/>
        </p:nvCxnSpPr>
        <p:spPr>
          <a:xfrm>
            <a:off x="5852159" y="1828800"/>
            <a:ext cx="274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9" y="1664208"/>
            <a:ext cx="914400" cy="329184"/>
          </a:xfrm>
          <a:prstGeom prst="rect">
            <a:avLst/>
          </a:prstGeom>
          <a:noFill/>
        </p:spPr>
        <p:txBody>
          <a:bodyPr wrap="square" anchor="t" lIns="0" rIns="0" tIns="0" bIns="0">
            <a:spAutoFit/>
          </a:bodyPr>
          <a:lstStyle/>
          <a:p>
            <a:pPr algn="ctr"/>
            <a:r>
              <a:rPr sz="1200" b="1" i="0">
                <a:solidFill>
                  <a:srgbClr val="333333"/>
                </a:solidFill>
              </a:rPr>
              <a:t>実速度</a:t>
            </a:r>
          </a:p>
        </p:txBody>
      </p:sp>
      <p:cxnSp>
        <p:nvCxnSpPr>
          <p:cNvPr id="17" name="Connector 16"/>
          <p:cNvCxnSpPr/>
          <p:nvPr/>
        </p:nvCxnSpPr>
        <p:spPr>
          <a:xfrm>
            <a:off x="6446519" y="1828800"/>
            <a:ext cx="0" cy="822959"/>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217420" y="2651759"/>
            <a:ext cx="4229099"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217420" y="2148839"/>
            <a:ext cx="0" cy="50292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08760" y="2697479"/>
            <a:ext cx="2514600" cy="274320"/>
          </a:xfrm>
          <a:prstGeom prst="rect">
            <a:avLst/>
          </a:prstGeom>
          <a:noFill/>
        </p:spPr>
        <p:txBody>
          <a:bodyPr wrap="square" anchor="t" lIns="0" rIns="0" tIns="0" bIns="0">
            <a:spAutoFit/>
          </a:bodyPr>
          <a:lstStyle/>
          <a:p>
            <a:pPr algn="ctr"/>
            <a:r>
              <a:rPr sz="1050" b="0" i="1">
                <a:solidFill>
                  <a:srgbClr val="666666"/>
                </a:solidFill>
              </a:rPr>
              <a:t>フィードバック</a:t>
            </a:r>
          </a:p>
        </p:txBody>
      </p:sp>
      <p:sp>
        <p:nvSpPr>
          <p:cNvPr id="21" name="TextBox 20"/>
          <p:cNvSpPr txBox="1"/>
          <p:nvPr/>
        </p:nvSpPr>
        <p:spPr>
          <a:xfrm>
            <a:off x="365760" y="3154679"/>
            <a:ext cx="1828800" cy="274320"/>
          </a:xfrm>
          <a:prstGeom prst="rect">
            <a:avLst/>
          </a:prstGeom>
          <a:noFill/>
        </p:spPr>
        <p:txBody>
          <a:bodyPr wrap="square" anchor="t" lIns="0" rIns="0" tIns="0" bIns="0">
            <a:spAutoFit/>
          </a:bodyPr>
          <a:lstStyle/>
          <a:p>
            <a:pPr algn="l"/>
            <a:r>
              <a:rPr sz="1400" b="1" i="0">
                <a:solidFill>
                  <a:srgbClr val="4F81BD"/>
                </a:solidFill>
              </a:rPr>
              <a:t>実験で行うこと</a:t>
            </a:r>
          </a:p>
        </p:txBody>
      </p:sp>
      <p:sp>
        <p:nvSpPr>
          <p:cNvPr id="22" name="Rounded Rectangle 21"/>
          <p:cNvSpPr/>
          <p:nvPr/>
        </p:nvSpPr>
        <p:spPr>
          <a:xfrm>
            <a:off x="365760" y="3520439"/>
            <a:ext cx="2084831" cy="68580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i="0">
                <a:solidFill>
                  <a:srgbClr val="1F3A5C"/>
                </a:solidFill>
              </a:rPr>
              <a:t>1. PIDによる速度制御を実装する</a:t>
            </a:r>
          </a:p>
        </p:txBody>
      </p:sp>
      <p:sp>
        <p:nvSpPr>
          <p:cNvPr id="23" name="Rounded Rectangle 22"/>
          <p:cNvSpPr/>
          <p:nvPr/>
        </p:nvSpPr>
        <p:spPr>
          <a:xfrm>
            <a:off x="2560320" y="3520439"/>
            <a:ext cx="2084831" cy="68580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i="0">
                <a:solidFill>
                  <a:srgbClr val="1F3A5C"/>
                </a:solidFill>
              </a:rPr>
              <a:t>2. 実際に車両を走行させる</a:t>
            </a:r>
          </a:p>
        </p:txBody>
      </p:sp>
      <p:sp>
        <p:nvSpPr>
          <p:cNvPr id="24" name="Rounded Rectangle 23"/>
          <p:cNvSpPr/>
          <p:nvPr/>
        </p:nvSpPr>
        <p:spPr>
          <a:xfrm>
            <a:off x="4754880" y="3520439"/>
            <a:ext cx="2084831" cy="68580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i="0">
                <a:solidFill>
                  <a:srgbClr val="1F3A5C"/>
                </a:solidFill>
              </a:rPr>
              <a:t>3. PIDゲインを調整する</a:t>
            </a:r>
          </a:p>
        </p:txBody>
      </p:sp>
      <p:sp>
        <p:nvSpPr>
          <p:cNvPr id="25" name="Rounded Rectangle 24"/>
          <p:cNvSpPr/>
          <p:nvPr/>
        </p:nvSpPr>
        <p:spPr>
          <a:xfrm>
            <a:off x="6949440" y="3520439"/>
            <a:ext cx="2084831" cy="68580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i="0">
                <a:solidFill>
                  <a:srgbClr val="1F3A5C"/>
                </a:solidFill>
              </a:rPr>
              <a:t>4. 目標速度に対する追従性を確認する</a:t>
            </a:r>
          </a:p>
        </p:txBody>
      </p:sp>
      <p:sp>
        <p:nvSpPr>
          <p:cNvPr id="26" name="TextBox 25"/>
          <p:cNvSpPr txBox="1"/>
          <p:nvPr/>
        </p:nvSpPr>
        <p:spPr>
          <a:xfrm>
            <a:off x="365760" y="4389119"/>
            <a:ext cx="8412480" cy="274320"/>
          </a:xfrm>
          <a:prstGeom prst="rect">
            <a:avLst/>
          </a:prstGeom>
          <a:noFill/>
        </p:spPr>
        <p:txBody>
          <a:bodyPr wrap="square" anchor="t" lIns="0" rIns="0" tIns="0" bIns="0">
            <a:spAutoFit/>
          </a:bodyPr>
          <a:lstStyle/>
          <a:p>
            <a:pPr algn="l"/>
            <a:r>
              <a:rPr sz="1200" b="0" i="0">
                <a:solidFill>
                  <a:srgbClr val="333333"/>
                </a:solidFill>
              </a:rPr>
              <a:t>発展課題：時間に余裕があればモータを変更し、車両特性・制御性能の違いを評価する</a:t>
            </a:r>
          </a:p>
        </p:txBody>
      </p:sp>
      <p:sp>
        <p:nvSpPr>
          <p:cNvPr id="27" name="TextBox 26"/>
          <p:cNvSpPr txBox="1"/>
          <p:nvPr/>
        </p:nvSpPr>
        <p:spPr>
          <a:xfrm>
            <a:off x="365760" y="4754879"/>
            <a:ext cx="8412480" cy="457200"/>
          </a:xfrm>
          <a:prstGeom prst="rect">
            <a:avLst/>
          </a:prstGeom>
          <a:noFill/>
        </p:spPr>
        <p:txBody>
          <a:bodyPr wrap="square" anchor="t" lIns="0" rIns="0" tIns="0" bIns="0">
            <a:spAutoFit/>
          </a:bodyPr>
          <a:lstStyle/>
          <a:p>
            <a:pPr algn="l"/>
            <a:r>
              <a:rPr sz="1100" b="0" i="1">
                <a:solidFill>
                  <a:srgbClr val="666666"/>
                </a:solidFill>
              </a:rPr>
              <a:t>補足：PID制御の基本理論は他の実験で扱っているため、ここでは詳しい理論説明は行わない。今回は「PIDを実際の車両制御へ適用する」ことを重視する。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246888" y="566928"/>
            <a:ext cx="8686800" cy="1691640"/>
          </a:xfrm>
        </p:spPr>
        <p:txBody>
          <a:bodyPr wrap="square"/>
          <a:lstStyle/>
          <a:p>
            <a:pPr>
              <a:spcAft>
                <a:spcPts val="400"/>
              </a:spcAft>
            </a:pPr>
            <a:r>
              <a:rPr sz="1600" b="1">
                <a:solidFill>
                  <a:srgbClr val="4F81BD"/>
                </a:solidFill>
              </a:rPr>
              <a:t>基本アイデア</a:t>
            </a:r>
          </a:p>
          <a:p>
            <a:pPr lvl="1">
              <a:spcAft>
                <a:spcPts val="400"/>
              </a:spcAft>
            </a:pPr>
            <a:r>
              <a:rPr sz="1300" b="0"/>
              <a:t>2台の車両が交差点へ向かって走行する</a:t>
            </a:r>
          </a:p>
          <a:p>
            <a:pPr lvl="1">
              <a:spcAft>
                <a:spcPts val="400"/>
              </a:spcAft>
            </a:pPr>
            <a:r>
              <a:rPr sz="1300" b="0"/>
              <a:t>各車両が「交差点へ到達するまでの残り時間」を計算する</a:t>
            </a:r>
          </a:p>
          <a:p>
            <a:pPr lvl="1">
              <a:spcAft>
                <a:spcPts val="400"/>
              </a:spcAft>
            </a:pPr>
            <a:r>
              <a:rPr sz="1300" b="0"/>
              <a:t>その情報をESP-NOWで相手車両へ送信する</a:t>
            </a:r>
          </a:p>
          <a:p>
            <a:pPr lvl="1">
              <a:spcAft>
                <a:spcPts val="400"/>
              </a:spcAft>
            </a:pPr>
            <a:r>
              <a:rPr sz="1300" b="0"/>
              <a:t>お互いの到達タイミングを比較し、必要に応じて速度を調整する</a:t>
            </a:r>
          </a:p>
        </p:txBody>
      </p:sp>
      <p:sp>
        <p:nvSpPr>
          <p:cNvPr id="3" name="Title 2"/>
          <p:cNvSpPr>
            <a:spLocks noGrp="1"/>
          </p:cNvSpPr>
          <p:nvPr>
            <p:ph type="title"/>
          </p:nvPr>
        </p:nvSpPr>
        <p:spPr/>
        <p:txBody>
          <a:bodyPr/>
          <a:lstStyle/>
          <a:p>
            <a:r>
              <a:t>6. </a:t>
            </a:r>
            <a:r>
              <a:t>衝突回避制御</a:t>
            </a:r>
          </a:p>
        </p:txBody>
      </p:sp>
      <p:sp>
        <p:nvSpPr>
          <p:cNvPr id="4" name="Text Placeholder 3"/>
          <p:cNvSpPr>
            <a:spLocks noGrp="1"/>
          </p:cNvSpPr>
          <p:nvPr>
            <p:ph type="body" idx="10" sz="quarter"/>
          </p:nvPr>
        </p:nvSpPr>
        <p:spPr/>
        <p:txBody>
          <a:bodyPr/>
          <a:lstStyle/>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6/7</a:t>
            </a:r>
            <a:endParaRPr lang="ja-JP" altLang="en-US" dirty="0"/>
          </a:p>
        </p:txBody>
      </p:sp>
      <p:sp>
        <p:nvSpPr>
          <p:cNvPr id="8" name="Rounded Rectangle 7"/>
          <p:cNvSpPr/>
          <p:nvPr/>
        </p:nvSpPr>
        <p:spPr>
          <a:xfrm>
            <a:off x="3977639" y="2880360"/>
            <a:ext cx="1188720" cy="777240"/>
          </a:xfrm>
          <a:prstGeom prst="roundRect">
            <a:avLst/>
          </a:prstGeom>
          <a:solidFill>
            <a:srgbClr val="EEEEEE"/>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333333"/>
                </a:solidFill>
              </a:rPr>
              <a:t>交差点</a:t>
            </a:r>
          </a:p>
        </p:txBody>
      </p:sp>
      <p:sp>
        <p:nvSpPr>
          <p:cNvPr id="9" name="Rounded Rectangle 8"/>
          <p:cNvSpPr/>
          <p:nvPr/>
        </p:nvSpPr>
        <p:spPr>
          <a:xfrm>
            <a:off x="4114800" y="2377440"/>
            <a:ext cx="914400" cy="41148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車両A</a:t>
            </a:r>
          </a:p>
        </p:txBody>
      </p:sp>
      <p:cxnSp>
        <p:nvCxnSpPr>
          <p:cNvPr id="10" name="Connector 9"/>
          <p:cNvCxnSpPr/>
          <p:nvPr/>
        </p:nvCxnSpPr>
        <p:spPr>
          <a:xfrm>
            <a:off x="4572000" y="2788920"/>
            <a:ext cx="0" cy="914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14800" y="3749039"/>
            <a:ext cx="914400" cy="411480"/>
          </a:xfrm>
          <a:prstGeom prst="roundRect">
            <a:avLst/>
          </a:prstGeom>
          <a:solidFill>
            <a:srgbClr val="4BAC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車両B</a:t>
            </a:r>
          </a:p>
        </p:txBody>
      </p:sp>
      <p:cxnSp>
        <p:nvCxnSpPr>
          <p:cNvPr id="12" name="Connector 11"/>
          <p:cNvCxnSpPr/>
          <p:nvPr/>
        </p:nvCxnSpPr>
        <p:spPr>
          <a:xfrm flipV="1">
            <a:off x="4572000" y="3657600"/>
            <a:ext cx="0" cy="91439"/>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268979"/>
            <a:ext cx="2606039"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166360" y="3268979"/>
            <a:ext cx="260604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5760" y="4343400"/>
            <a:ext cx="1627632" cy="7772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到達予測時間を計算</a:t>
            </a:r>
          </a:p>
        </p:txBody>
      </p:sp>
      <p:cxnSp>
        <p:nvCxnSpPr>
          <p:cNvPr id="16" name="Connector 15"/>
          <p:cNvCxnSpPr/>
          <p:nvPr/>
        </p:nvCxnSpPr>
        <p:spPr>
          <a:xfrm>
            <a:off x="1993392" y="4732020"/>
            <a:ext cx="128016"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121408" y="4343400"/>
            <a:ext cx="1627632" cy="7772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ESP-NOWで共有</a:t>
            </a:r>
          </a:p>
        </p:txBody>
      </p:sp>
      <p:cxnSp>
        <p:nvCxnSpPr>
          <p:cNvPr id="18" name="Connector 17"/>
          <p:cNvCxnSpPr/>
          <p:nvPr/>
        </p:nvCxnSpPr>
        <p:spPr>
          <a:xfrm>
            <a:off x="3749040" y="4732020"/>
            <a:ext cx="128016"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877056" y="4343400"/>
            <a:ext cx="1627632" cy="777240"/>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到達タイミングを比較</a:t>
            </a:r>
          </a:p>
        </p:txBody>
      </p:sp>
      <p:cxnSp>
        <p:nvCxnSpPr>
          <p:cNvPr id="20" name="Connector 19"/>
          <p:cNvCxnSpPr/>
          <p:nvPr/>
        </p:nvCxnSpPr>
        <p:spPr>
          <a:xfrm>
            <a:off x="5504688" y="4732020"/>
            <a:ext cx="128016"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632704" y="4343400"/>
            <a:ext cx="1627632" cy="777240"/>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速度を調整</a:t>
            </a:r>
          </a:p>
        </p:txBody>
      </p:sp>
      <p:cxnSp>
        <p:nvCxnSpPr>
          <p:cNvPr id="22" name="Connector 21"/>
          <p:cNvCxnSpPr/>
          <p:nvPr/>
        </p:nvCxnSpPr>
        <p:spPr>
          <a:xfrm>
            <a:off x="7260336" y="4732020"/>
            <a:ext cx="128016"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88352" y="4343400"/>
            <a:ext cx="1627632" cy="777240"/>
          </a:xfrm>
          <a:prstGeom prst="roundRect">
            <a:avLst/>
          </a:prstGeom>
          <a:solidFill>
            <a:srgbClr val="9BB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衝突を回避</a:t>
            </a:r>
          </a:p>
        </p:txBody>
      </p:sp>
      <p:sp>
        <p:nvSpPr>
          <p:cNvPr id="24" name="TextBox 23"/>
          <p:cNvSpPr txBox="1"/>
          <p:nvPr/>
        </p:nvSpPr>
        <p:spPr>
          <a:xfrm>
            <a:off x="365760" y="5257800"/>
            <a:ext cx="8412480" cy="274320"/>
          </a:xfrm>
          <a:prstGeom prst="rect">
            <a:avLst/>
          </a:prstGeom>
          <a:noFill/>
        </p:spPr>
        <p:txBody>
          <a:bodyPr wrap="square" anchor="t" lIns="0" rIns="0" tIns="0" bIns="0">
            <a:spAutoFit/>
          </a:bodyPr>
          <a:lstStyle/>
          <a:p>
            <a:pPr algn="l"/>
            <a:r>
              <a:rPr sz="1200" b="1" i="0">
                <a:solidFill>
                  <a:srgbClr val="C0504D"/>
                </a:solidFill>
              </a:rPr>
              <a:t>ポイント：重要なのは「車両の位置」だけでなく「いつ交差点へ到達するか」</a:t>
            </a:r>
          </a:p>
        </p:txBody>
      </p:sp>
      <p:sp>
        <p:nvSpPr>
          <p:cNvPr id="25" name="Rounded Rectangle 24"/>
          <p:cNvSpPr/>
          <p:nvPr/>
        </p:nvSpPr>
        <p:spPr>
          <a:xfrm>
            <a:off x="246888" y="5623560"/>
            <a:ext cx="8412480" cy="54864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33333"/>
                </a:solidFill>
              </a:rPr>
              <a:t/>
            </a:r>
          </a:p>
        </p:txBody>
      </p:sp>
      <p:sp>
        <p:nvSpPr>
          <p:cNvPr id="26" name="TextBox 25"/>
          <p:cNvSpPr txBox="1"/>
          <p:nvPr/>
        </p:nvSpPr>
        <p:spPr>
          <a:xfrm>
            <a:off x="749808" y="5623560"/>
            <a:ext cx="7726679" cy="548640"/>
          </a:xfrm>
          <a:prstGeom prst="rect">
            <a:avLst/>
          </a:prstGeom>
          <a:noFill/>
        </p:spPr>
        <p:txBody>
          <a:bodyPr wrap="square" anchor="ctr" lIns="0" rIns="0" tIns="0" bIns="0">
            <a:spAutoFit/>
          </a:bodyPr>
          <a:lstStyle/>
          <a:p>
            <a:pPr algn="l"/>
            <a:r>
              <a:rPr sz="1200" b="1" i="0">
                <a:solidFill>
                  <a:srgbClr val="8A4B0E"/>
                </a:solidFill>
              </a:rPr>
              <a:t>到達予測時間を共有し、進入タイミングを調整することで衝突を回避する。</a:t>
            </a:r>
          </a:p>
        </p:txBody>
      </p:sp>
      <p:sp>
        <p:nvSpPr>
          <p:cNvPr id="27" name="Oval 26"/>
          <p:cNvSpPr/>
          <p:nvPr/>
        </p:nvSpPr>
        <p:spPr>
          <a:xfrm>
            <a:off x="384048" y="5751576"/>
            <a:ext cx="292608" cy="292608"/>
          </a:xfrm>
          <a:prstGeom prst="ellipse">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t>7. </a:t>
            </a:r>
            <a:r>
              <a:t>実行環境の構築</a:t>
            </a:r>
          </a:p>
        </p:txBody>
      </p:sp>
      <p:sp>
        <p:nvSpPr>
          <p:cNvPr id="4" name="Text Placeholder 3"/>
          <p:cNvSpPr>
            <a:spLocks noGrp="1"/>
          </p:cNvSpPr>
          <p:nvPr>
            <p:ph type="body" idx="10" sz="quarter"/>
          </p:nvPr>
        </p:nvSpPr>
        <p:spPr/>
        <p:txBody>
          <a:bodyPr/>
          <a:lstStyle/>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7/7</a:t>
            </a:r>
            <a:endParaRPr lang="ja-JP" altLang="en-US" dirty="0"/>
          </a:p>
        </p:txBody>
      </p:sp>
      <p:sp>
        <p:nvSpPr>
          <p:cNvPr id="8" name="TextBox 7"/>
          <p:cNvSpPr txBox="1"/>
          <p:nvPr/>
        </p:nvSpPr>
        <p:spPr>
          <a:xfrm>
            <a:off x="365760" y="548640"/>
            <a:ext cx="4114800" cy="274320"/>
          </a:xfrm>
          <a:prstGeom prst="rect">
            <a:avLst/>
          </a:prstGeom>
          <a:noFill/>
        </p:spPr>
        <p:txBody>
          <a:bodyPr wrap="square" anchor="t" lIns="0" rIns="0" tIns="0" bIns="0">
            <a:spAutoFit/>
          </a:bodyPr>
          <a:lstStyle/>
          <a:p>
            <a:pPr algn="l"/>
            <a:r>
              <a:rPr sz="1400" b="1" i="0">
                <a:solidFill>
                  <a:srgbClr val="4F81BD"/>
                </a:solidFill>
              </a:rPr>
              <a:t>作業の流れ</a:t>
            </a:r>
          </a:p>
        </p:txBody>
      </p:sp>
      <p:sp>
        <p:nvSpPr>
          <p:cNvPr id="9" name="Rounded Rectangle 8"/>
          <p:cNvSpPr/>
          <p:nvPr/>
        </p:nvSpPr>
        <p:spPr>
          <a:xfrm>
            <a:off x="365760" y="777240"/>
            <a:ext cx="4114800" cy="475488"/>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i="0">
                <a:solidFill>
                  <a:srgbClr val="1F3A5C"/>
                </a:solidFill>
              </a:rPr>
              <a:t>1. 配布USBメモリを準備</a:t>
            </a:r>
          </a:p>
        </p:txBody>
      </p:sp>
      <p:cxnSp>
        <p:nvCxnSpPr>
          <p:cNvPr id="10" name="Connector 9"/>
          <p:cNvCxnSpPr/>
          <p:nvPr/>
        </p:nvCxnSpPr>
        <p:spPr>
          <a:xfrm>
            <a:off x="2423160" y="1252728"/>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 y="1380744"/>
            <a:ext cx="4114800" cy="475488"/>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i="0">
                <a:solidFill>
                  <a:srgbClr val="1F3A5C"/>
                </a:solidFill>
              </a:rPr>
              <a:t>2. 「2026_higlab_設計製作_配布用」をコピー</a:t>
            </a:r>
          </a:p>
        </p:txBody>
      </p:sp>
      <p:cxnSp>
        <p:nvCxnSpPr>
          <p:cNvPr id="12" name="Connector 11"/>
          <p:cNvCxnSpPr/>
          <p:nvPr/>
        </p:nvCxnSpPr>
        <p:spPr>
          <a:xfrm>
            <a:off x="2423160" y="1856232"/>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5760" y="1984248"/>
            <a:ext cx="4114800" cy="475488"/>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i="0">
                <a:solidFill>
                  <a:srgbClr val="1F3A5C"/>
                </a:solidFill>
              </a:rPr>
              <a:t>3. README.mdを確認</a:t>
            </a:r>
          </a:p>
        </p:txBody>
      </p:sp>
      <p:cxnSp>
        <p:nvCxnSpPr>
          <p:cNvPr id="14" name="Connector 13"/>
          <p:cNvCxnSpPr/>
          <p:nvPr/>
        </p:nvCxnSpPr>
        <p:spPr>
          <a:xfrm>
            <a:off x="2423160" y="2459736"/>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5760" y="2587752"/>
            <a:ext cx="4114800" cy="475488"/>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i="0">
                <a:solidFill>
                  <a:srgbClr val="1F3A5C"/>
                </a:solidFill>
              </a:rPr>
              <a:t>4. 必要な拡張機能をインストール</a:t>
            </a:r>
          </a:p>
        </p:txBody>
      </p:sp>
      <p:cxnSp>
        <p:nvCxnSpPr>
          <p:cNvPr id="16" name="Connector 15"/>
          <p:cNvCxnSpPr/>
          <p:nvPr/>
        </p:nvCxnSpPr>
        <p:spPr>
          <a:xfrm>
            <a:off x="2423160" y="3063240"/>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5760" y="3191256"/>
            <a:ext cx="4114800" cy="475488"/>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i="0">
                <a:solidFill>
                  <a:srgbClr val="1F3A5C"/>
                </a:solidFill>
              </a:rPr>
              <a:t>5. 環境構築コマンドを実行</a:t>
            </a:r>
          </a:p>
        </p:txBody>
      </p:sp>
      <p:cxnSp>
        <p:nvCxnSpPr>
          <p:cNvPr id="18" name="Connector 17"/>
          <p:cNvCxnSpPr/>
          <p:nvPr/>
        </p:nvCxnSpPr>
        <p:spPr>
          <a:xfrm>
            <a:off x="2423160" y="3666744"/>
            <a:ext cx="0" cy="128015"/>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65760" y="3794760"/>
            <a:ext cx="4114800" cy="475488"/>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i="0">
                <a:solidFill>
                  <a:srgbClr val="1F3A5C"/>
                </a:solidFill>
              </a:rPr>
              <a:t>6. マイコンへ env:test を書き込む</a:t>
            </a:r>
          </a:p>
        </p:txBody>
      </p:sp>
      <p:cxnSp>
        <p:nvCxnSpPr>
          <p:cNvPr id="20" name="Connector 19"/>
          <p:cNvCxnSpPr/>
          <p:nvPr/>
        </p:nvCxnSpPr>
        <p:spPr>
          <a:xfrm>
            <a:off x="2423160" y="4270248"/>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65760" y="4398264"/>
            <a:ext cx="4114800" cy="475488"/>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i="0">
                <a:solidFill>
                  <a:srgbClr val="1F3A5C"/>
                </a:solidFill>
              </a:rPr>
              <a:t>7. monitor/exp0_monitor.py を実行</a:t>
            </a:r>
          </a:p>
        </p:txBody>
      </p:sp>
      <p:cxnSp>
        <p:nvCxnSpPr>
          <p:cNvPr id="22" name="Connector 21"/>
          <p:cNvCxnSpPr/>
          <p:nvPr/>
        </p:nvCxnSpPr>
        <p:spPr>
          <a:xfrm>
            <a:off x="2423160" y="4873752"/>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65760" y="5001768"/>
            <a:ext cx="4114800" cy="475488"/>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i="0">
                <a:solidFill>
                  <a:srgbClr val="1F3A5C"/>
                </a:solidFill>
              </a:rPr>
              <a:t>8. シリアル通信を確認</a:t>
            </a:r>
          </a:p>
        </p:txBody>
      </p:sp>
      <p:sp>
        <p:nvSpPr>
          <p:cNvPr id="24" name="TextBox 23"/>
          <p:cNvSpPr txBox="1"/>
          <p:nvPr/>
        </p:nvSpPr>
        <p:spPr>
          <a:xfrm>
            <a:off x="4800600" y="685800"/>
            <a:ext cx="3977639" cy="274320"/>
          </a:xfrm>
          <a:prstGeom prst="rect">
            <a:avLst/>
          </a:prstGeom>
          <a:noFill/>
        </p:spPr>
        <p:txBody>
          <a:bodyPr wrap="square" anchor="t" lIns="0" rIns="0" tIns="0" bIns="0">
            <a:spAutoFit/>
          </a:bodyPr>
          <a:lstStyle/>
          <a:p>
            <a:pPr algn="l"/>
            <a:r>
              <a:rPr sz="1400" b="1" i="0">
                <a:solidFill>
                  <a:srgbClr val="4F81BD"/>
                </a:solidFill>
              </a:rPr>
              <a:t>準備するもの</a:t>
            </a:r>
          </a:p>
        </p:txBody>
      </p:sp>
      <p:sp>
        <p:nvSpPr>
          <p:cNvPr id="25" name="TextBox 24"/>
          <p:cNvSpPr txBox="1"/>
          <p:nvPr/>
        </p:nvSpPr>
        <p:spPr>
          <a:xfrm>
            <a:off x="4937760" y="1051560"/>
            <a:ext cx="3840479" cy="1005840"/>
          </a:xfrm>
          <a:prstGeom prst="rect">
            <a:avLst/>
          </a:prstGeom>
          <a:noFill/>
        </p:spPr>
        <p:txBody>
          <a:bodyPr wrap="square" anchor="t" lIns="0" rIns="0" tIns="0" bIns="0">
            <a:spAutoFit/>
          </a:bodyPr>
          <a:lstStyle/>
          <a:p>
            <a:pPr algn="l"/>
            <a:r>
              <a:rPr sz="1300" b="0" i="0">
                <a:solidFill>
                  <a:srgbClr val="333333"/>
                </a:solidFill>
              </a:rPr>
              <a:t>・配布USBメモリ</a:t>
            </a:r>
          </a:p>
          <a:p>
            <a:pPr algn="l"/>
            <a:r>
              <a:rPr sz="1300" b="0" i="0">
                <a:solidFill>
                  <a:srgbClr val="333333"/>
                </a:solidFill>
              </a:rPr>
              <a:t>・2026_higlab_設計製作_配布用</a:t>
            </a:r>
          </a:p>
          <a:p>
            <a:pPr algn="l"/>
            <a:r>
              <a:rPr sz="1300" b="0" i="0">
                <a:solidFill>
                  <a:srgbClr val="333333"/>
                </a:solidFill>
              </a:rPr>
              <a:t>・マイコン</a:t>
            </a:r>
          </a:p>
          <a:p>
            <a:pPr algn="l"/>
            <a:r>
              <a:rPr sz="1300" b="0" i="0">
                <a:solidFill>
                  <a:srgbClr val="333333"/>
                </a:solidFill>
              </a:rPr>
              <a:t>・PC</a:t>
            </a:r>
          </a:p>
        </p:txBody>
      </p:sp>
      <p:sp>
        <p:nvSpPr>
          <p:cNvPr id="26" name="TextBox 25"/>
          <p:cNvSpPr txBox="1"/>
          <p:nvPr/>
        </p:nvSpPr>
        <p:spPr>
          <a:xfrm>
            <a:off x="4800600" y="2194560"/>
            <a:ext cx="3977639" cy="274320"/>
          </a:xfrm>
          <a:prstGeom prst="rect">
            <a:avLst/>
          </a:prstGeom>
          <a:noFill/>
        </p:spPr>
        <p:txBody>
          <a:bodyPr wrap="square" anchor="t" lIns="0" rIns="0" tIns="0" bIns="0">
            <a:spAutoFit/>
          </a:bodyPr>
          <a:lstStyle/>
          <a:p>
            <a:pPr algn="l"/>
            <a:r>
              <a:rPr sz="1400" b="1" i="0">
                <a:solidFill>
                  <a:srgbClr val="4F81BD"/>
                </a:solidFill>
              </a:rPr>
              <a:t>最初に確認すること</a:t>
            </a:r>
          </a:p>
        </p:txBody>
      </p:sp>
      <p:sp>
        <p:nvSpPr>
          <p:cNvPr id="27" name="TextBox 26"/>
          <p:cNvSpPr txBox="1"/>
          <p:nvPr/>
        </p:nvSpPr>
        <p:spPr>
          <a:xfrm>
            <a:off x="4937760" y="2560320"/>
            <a:ext cx="3840479" cy="1051560"/>
          </a:xfrm>
          <a:prstGeom prst="rect">
            <a:avLst/>
          </a:prstGeom>
          <a:noFill/>
        </p:spPr>
        <p:txBody>
          <a:bodyPr wrap="square" anchor="t" lIns="0" rIns="0" tIns="0" bIns="0">
            <a:spAutoFit/>
          </a:bodyPr>
          <a:lstStyle/>
          <a:p>
            <a:pPr algn="l"/>
            <a:r>
              <a:rPr sz="1250" b="0" i="0">
                <a:solidFill>
                  <a:srgbClr val="333333"/>
                </a:solidFill>
              </a:rPr>
              <a:t>・プロジェクトフォルダをPCへコピーする</a:t>
            </a:r>
          </a:p>
          <a:p>
            <a:pPr algn="l"/>
            <a:r>
              <a:rPr sz="1250" b="0" i="0">
                <a:solidFill>
                  <a:srgbClr val="333333"/>
                </a:solidFill>
              </a:rPr>
              <a:t>・README.mdの手順に従って環境を構築する</a:t>
            </a:r>
          </a:p>
          <a:p>
            <a:pPr algn="l"/>
            <a:r>
              <a:rPr sz="1250" b="0" i="0">
                <a:solidFill>
                  <a:srgbClr val="333333"/>
                </a:solidFill>
              </a:rPr>
              <a:t>・必要な拡張機能・ソフトウェアをインストールする</a:t>
            </a:r>
          </a:p>
        </p:txBody>
      </p:sp>
      <p:sp>
        <p:nvSpPr>
          <p:cNvPr id="28" name="TextBox 27"/>
          <p:cNvSpPr txBox="1"/>
          <p:nvPr/>
        </p:nvSpPr>
        <p:spPr>
          <a:xfrm>
            <a:off x="4800600" y="3749039"/>
            <a:ext cx="3977639" cy="274320"/>
          </a:xfrm>
          <a:prstGeom prst="rect">
            <a:avLst/>
          </a:prstGeom>
          <a:noFill/>
        </p:spPr>
        <p:txBody>
          <a:bodyPr wrap="square" anchor="t" lIns="0" rIns="0" tIns="0" bIns="0">
            <a:spAutoFit/>
          </a:bodyPr>
          <a:lstStyle/>
          <a:p>
            <a:pPr algn="l"/>
            <a:r>
              <a:rPr sz="1400" b="1" i="0">
                <a:solidFill>
                  <a:srgbClr val="4F81BD"/>
                </a:solidFill>
              </a:rPr>
              <a:t>動作確認</a:t>
            </a:r>
          </a:p>
        </p:txBody>
      </p:sp>
      <p:sp>
        <p:nvSpPr>
          <p:cNvPr id="29" name="TextBox 28"/>
          <p:cNvSpPr txBox="1"/>
          <p:nvPr/>
        </p:nvSpPr>
        <p:spPr>
          <a:xfrm>
            <a:off x="4937760" y="4114800"/>
            <a:ext cx="3840479" cy="914400"/>
          </a:xfrm>
          <a:prstGeom prst="rect">
            <a:avLst/>
          </a:prstGeom>
          <a:noFill/>
        </p:spPr>
        <p:txBody>
          <a:bodyPr wrap="square" anchor="t" lIns="0" rIns="0" tIns="0" bIns="0">
            <a:spAutoFit/>
          </a:bodyPr>
          <a:lstStyle/>
          <a:p>
            <a:pPr algn="l"/>
            <a:r>
              <a:rPr sz="1250" b="0" i="0">
                <a:solidFill>
                  <a:srgbClr val="333333"/>
                </a:solidFill>
              </a:rPr>
              <a:t>・env:test をマイコンへアップロード</a:t>
            </a:r>
          </a:p>
          <a:p>
            <a:pPr algn="l"/>
            <a:r>
              <a:rPr sz="1250" b="0" i="0">
                <a:solidFill>
                  <a:srgbClr val="333333"/>
                </a:solidFill>
              </a:rPr>
              <a:t>・monitor/exp0_monitor.py を実行</a:t>
            </a:r>
          </a:p>
          <a:p>
            <a:pPr algn="l"/>
            <a:r>
              <a:rPr sz="1250" b="0" i="0">
                <a:solidFill>
                  <a:srgbClr val="333333"/>
                </a:solidFill>
              </a:rPr>
              <a:t>・PCとマイコン間のシリアル通信ができることを確認</a:t>
            </a:r>
          </a:p>
        </p:txBody>
      </p:sp>
      <p:sp>
        <p:nvSpPr>
          <p:cNvPr id="30" name="Rounded Rectangle 29"/>
          <p:cNvSpPr/>
          <p:nvPr/>
        </p:nvSpPr>
        <p:spPr>
          <a:xfrm>
            <a:off x="246888" y="6080760"/>
            <a:ext cx="8412480" cy="59436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33333"/>
                </a:solidFill>
              </a:rPr>
              <a:t/>
            </a:r>
          </a:p>
        </p:txBody>
      </p:sp>
      <p:sp>
        <p:nvSpPr>
          <p:cNvPr id="31" name="TextBox 30"/>
          <p:cNvSpPr txBox="1"/>
          <p:nvPr/>
        </p:nvSpPr>
        <p:spPr>
          <a:xfrm>
            <a:off x="749808" y="6080760"/>
            <a:ext cx="7726679" cy="594360"/>
          </a:xfrm>
          <a:prstGeom prst="rect">
            <a:avLst/>
          </a:prstGeom>
          <a:noFill/>
        </p:spPr>
        <p:txBody>
          <a:bodyPr wrap="square" anchor="ctr" lIns="0" rIns="0" tIns="0" bIns="0">
            <a:spAutoFit/>
          </a:bodyPr>
          <a:lstStyle/>
          <a:p>
            <a:pPr algn="l"/>
            <a:r>
              <a:rPr sz="1200" b="1" i="0">
                <a:solidFill>
                  <a:srgbClr val="8A4B0E"/>
                </a:solidFill>
              </a:rPr>
              <a:t>実験用プログラムをマイコンへ書き込み、PCとのシリアル通信ができる状態にする。</a:t>
            </a:r>
          </a:p>
        </p:txBody>
      </p:sp>
      <p:sp>
        <p:nvSpPr>
          <p:cNvPr id="32" name="Oval 31"/>
          <p:cNvSpPr/>
          <p:nvPr/>
        </p:nvSpPr>
        <p:spPr>
          <a:xfrm>
            <a:off x="384048" y="6231636"/>
            <a:ext cx="292608" cy="292608"/>
          </a:xfrm>
          <a:prstGeom prst="ellipse">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a:t>
            </a:r>
          </a:p>
        </p:txBody>
      </p:sp>
    </p:spTree>
  </p:cSld>
  <p:clrMapOvr>
    <a:masterClrMapping/>
  </p:clrMapOvr>
</p:sld>
</file>

<file path=ppt/theme/theme1.xml><?xml version="1.0" encoding="utf-8"?>
<a:theme xmlns:a="http://schemas.openxmlformats.org/drawingml/2006/main" name="1_標準デザイン">
  <a:themeElements>
    <a:clrScheme name="ユーザー定義 2">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1_標準デザイン">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a:solidFill>
            <a:schemeClr val="tx1"/>
          </a:solidFill>
          <a:round/>
          <a:headEnd/>
          <a:tailEnd/>
        </a:ln>
      </a:spPr>
      <a:bodyPr wrap="square" lIns="90000" tIns="46800" rIns="90000" bIns="46800" anchor="ctr">
        <a:noAutofit/>
      </a:bodyPr>
      <a:lstStyle>
        <a:defPPr>
          <a:defRPr/>
        </a:defPPr>
      </a:lstStyle>
    </a:spDef>
    <a:lnDef>
      <a:spPr bwMode="auto">
        <a:xfrm>
          <a:off x="0" y="0"/>
          <a:ext cx="1" cy="1"/>
        </a:xfrm>
        <a:custGeom>
          <a:avLst/>
          <a:gdLst/>
          <a:ahLst/>
          <a:cxnLst/>
          <a:rect l="0" t="0" r="0" b="0"/>
          <a:pathLst/>
        </a:custGeom>
        <a:noFill/>
        <a:ln w="50800"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0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ＭＳ Ｐゴシック" charset="-128"/>
          </a:defRPr>
        </a:defPPr>
      </a:lstStyle>
    </a:lnDef>
    <a:txDef>
      <a:spPr>
        <a:noFill/>
      </a:spPr>
      <a:bodyPr wrap="square" rtlCol="0">
        <a:spAutoFit/>
      </a:bodyPr>
      <a:lstStyle>
        <a:defPPr>
          <a:defRPr kumimoji="1" dirty="0" smtClean="0">
            <a:effectLst/>
          </a:defRPr>
        </a:defPPr>
      </a:lstStyle>
    </a:txDef>
  </a:objectDefaults>
  <a:extraClrSchemeLst>
    <a:extraClrScheme>
      <a:clrScheme name="1_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プレゼンテーション1" id="{00EEFE7C-116F-48B2-A9DD-EEF3189F0313}" vid="{050E564D-F4B0-4AEC-A218-D4F56E1CC75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14236</TotalTime>
  <Words>987</Words>
  <Application>Microsoft Office PowerPoint</Application>
  <PresentationFormat>画面に合わせる (4:3)</PresentationFormat>
  <Paragraphs>121</Paragraphs>
  <Slides>11</Slides>
  <Notes>5</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11</vt:i4>
      </vt:variant>
    </vt:vector>
  </HeadingPairs>
  <TitlesOfParts>
    <vt:vector size="18" baseType="lpstr">
      <vt:lpstr>游ゴシック Light</vt:lpstr>
      <vt:lpstr>Arial</vt:lpstr>
      <vt:lpstr>Calibri</vt:lpstr>
      <vt:lpstr>Cambria Math</vt:lpstr>
      <vt:lpstr>Times New Roman</vt:lpstr>
      <vt:lpstr>Wingdings</vt:lpstr>
      <vt:lpstr>1_標準デザイン</vt:lpstr>
      <vt:lpstr>センサ同期に関する論文調査の進捗報告</vt:lpstr>
      <vt:lpstr>1. 無線センサネットワーク</vt:lpstr>
      <vt:lpstr>1. 無線センサネットワーク</vt:lpstr>
      <vt:lpstr>2. 関連研究</vt:lpstr>
      <vt:lpstr>3. 従来手法</vt:lpstr>
      <vt:lpstr>3. 従来手法</vt:lpstr>
      <vt:lpstr>4. 先行研究</vt:lpstr>
      <vt:lpstr>4. 先行研究</vt:lpstr>
      <vt:lpstr>4. 先行研究</vt:lpstr>
      <vt:lpstr>4. 先行研究</vt:lpstr>
      <vt:lpstr>5. 今後の課題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のれい DAZU</dc:creator>
  <cp:lastModifiedBy>NAITO DAIKI</cp:lastModifiedBy>
  <cp:revision>108</cp:revision>
  <cp:lastPrinted>2025-05-16T11:39:04Z</cp:lastPrinted>
  <dcterms:created xsi:type="dcterms:W3CDTF">2025-05-02T01:57:51Z</dcterms:created>
  <dcterms:modified xsi:type="dcterms:W3CDTF">2026-09-02T02:25:43Z</dcterms:modified>
</cp:coreProperties>
</file>