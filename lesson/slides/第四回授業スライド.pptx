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jpeg" ContentType="image/jpeg"/>
  <Override PartName="/ppt/media/image4.wmf" ContentType="image/x-wmf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</p:sld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</p:sldIdLst>
  <p:sldSz cx="9144000" cy="6858000"/>
  <p:notesSz cx="7099300" cy="102346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250920" y="548640"/>
            <a:ext cx="8712000" cy="566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タイトル、テキスト、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50920" y="548640"/>
            <a:ext cx="4251240" cy="566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715280" y="548640"/>
            <a:ext cx="4251240" cy="270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4715280" y="3508200"/>
            <a:ext cx="4251240" cy="270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準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B0FBFB0-3DDC-43E3-B4C2-2904563A8825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黒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250920" y="548640"/>
            <a:ext cx="4251240" cy="566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715280" y="548640"/>
            <a:ext cx="4251240" cy="566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2.png"/><Relationship Id="rId6" Type="http://schemas.openxmlformats.org/officeDocument/2006/relationships/image" Target="../media/image4.wmf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1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2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C63B70F3-BD54-4536-85A4-F65C0875530B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4" name="図 3" descr="C:\Users\oneda\Desktop\logo_jp01.jpg"/>
          <p:cNvPicPr/>
          <p:nvPr/>
        </p:nvPicPr>
        <p:blipFill>
          <a:blip r:embed="rId4"/>
          <a:stretch/>
        </p:blipFill>
        <p:spPr>
          <a:xfrm>
            <a:off x="5906880" y="1052640"/>
            <a:ext cx="3057120" cy="428400"/>
          </a:xfrm>
          <a:prstGeom prst="rect">
            <a:avLst/>
          </a:prstGeom>
          <a:ln w="0">
            <a:noFill/>
          </a:ln>
        </p:spPr>
      </p:pic>
      <p:pic>
        <p:nvPicPr>
          <p:cNvPr id="5" name="図 2" descr="H:\共有\仕事\桧垣研PPTテンプレ\upper.png"/>
          <p:cNvPicPr/>
          <p:nvPr/>
        </p:nvPicPr>
        <p:blipFill>
          <a:blip r:embed="rId5"/>
          <a:stretch/>
        </p:blipFill>
        <p:spPr>
          <a:xfrm>
            <a:off x="-3240" y="0"/>
            <a:ext cx="9146880" cy="550440"/>
          </a:xfrm>
          <a:prstGeom prst="rect">
            <a:avLst/>
          </a:prstGeom>
          <a:ln w="0">
            <a:noFill/>
          </a:ln>
        </p:spPr>
      </p:pic>
      <p:pic>
        <p:nvPicPr>
          <p:cNvPr id="6" name="Picture 1" descr=""/>
          <p:cNvPicPr/>
          <p:nvPr/>
        </p:nvPicPr>
        <p:blipFill>
          <a:blip r:embed="rId6"/>
          <a:stretch/>
        </p:blipFill>
        <p:spPr>
          <a:xfrm>
            <a:off x="251640" y="1052640"/>
            <a:ext cx="3528000" cy="470520"/>
          </a:xfrm>
          <a:prstGeom prst="rect">
            <a:avLst/>
          </a:prstGeom>
          <a:ln w="0">
            <a:noFill/>
          </a:ln>
        </p:spPr>
      </p:pic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</a:rPr>
              <a:t>クリックしてアウトラインのテキストを編集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</a:rPr>
              <a:t>レベル目のアウトライン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3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</a:rPr>
              <a:t>レベル目のアウトライン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4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</a:rPr>
              <a:t>レベル目のアウトライン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</a:rPr>
              <a:t>5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</a:rPr>
              <a:t>レベル目のアウトライン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</a:rPr>
              <a:t>6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</a:rPr>
              <a:t>レベル目のアウトライン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</a:rPr>
              <a:t>7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</a:rPr>
              <a:t>レベル目のアウトライン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11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12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1F72AF93-8BB3-41C8-8C52-BB2460DF4355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ja-JP" sz="20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ja-JP" sz="32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アイコンをクリックして図を追加</a:t>
            </a:r>
            <a:endParaRPr b="0" lang="en-US" sz="3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ja-JP" sz="1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14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17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18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7E1E163B-00F3-414D-A2FC-D6C9F960526B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250920" y="620640"/>
            <a:ext cx="8712000" cy="6049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22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23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7E3D955E-9C4C-434E-A1F7-BC5B4787915B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784920" y="185760"/>
            <a:ext cx="2177640" cy="6484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 vert="eaVer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50920" y="185760"/>
            <a:ext cx="6381360" cy="6484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27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28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9C3C80E7-590D-4D98-B14B-5587225ED869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476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11280" y="996840"/>
            <a:ext cx="3847680" cy="4952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11600" y="996840"/>
            <a:ext cx="3847680" cy="2400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611600" y="3549600"/>
            <a:ext cx="3847680" cy="2400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38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39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3B4D30CD-9CD5-4797-9C6D-14A37A92AFAB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body"/>
          </p:nvPr>
        </p:nvSpPr>
        <p:spPr>
          <a:xfrm>
            <a:off x="250920" y="548640"/>
            <a:ext cx="871200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 algn="ctr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ja-JP" sz="2400" spc="-1" strike="noStrike" u="sng">
                <a:solidFill>
                  <a:srgbClr val="ff0000"/>
                </a:solidFill>
                <a:uFillTx/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1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45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46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D515A241-89E4-4A6D-A9DE-5B314AEFCDFC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body"/>
          </p:nvPr>
        </p:nvSpPr>
        <p:spPr>
          <a:xfrm>
            <a:off x="722160" y="2857320"/>
            <a:ext cx="7772040" cy="1499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spcBef>
                <a:spcPts val="720"/>
              </a:spcBef>
              <a:buNone/>
              <a:tabLst>
                <a:tab algn="l" pos="0"/>
              </a:tabLst>
            </a:pPr>
            <a:r>
              <a:rPr b="0" lang="ja-JP" sz="3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36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49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50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281A0501-963F-4A39-81AC-853C8BFED9C4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正方形/長方形 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1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chemeClr val="dk1"/>
              </a:solidFill>
              <a:latin typeface="Times New Roman"/>
              <a:ea typeface="ＭＳ Ｐゴシック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53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54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BEB056A9-D893-476B-9A8A-29CE8A26A9A5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250920" y="981000"/>
            <a:ext cx="4279680" cy="5689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8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83240" y="981000"/>
            <a:ext cx="4279680" cy="5689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8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62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63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C590D709-64FC-452D-8363-BD5AEC076828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57120" y="0"/>
            <a:ext cx="8229240" cy="476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00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6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6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00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1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6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16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16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70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71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B73DE6B5-08C8-4C6D-90FE-CCC3EA286E87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250920" y="548640"/>
            <a:ext cx="8712000" cy="863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251640" y="1412640"/>
            <a:ext cx="4392000" cy="5328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4644000" y="1412640"/>
            <a:ext cx="4320000" cy="5328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77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78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872D0621-800C-478B-AC31-9CDC602FA496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2" descr="C:\Users\Takehiro Kawai\Documents\研究室\under_no.png"/>
          <p:cNvPicPr/>
          <p:nvPr/>
        </p:nvPicPr>
        <p:blipFill>
          <a:blip r:embed="rId2"/>
          <a:stretch/>
        </p:blipFill>
        <p:spPr>
          <a:xfrm>
            <a:off x="0" y="6741360"/>
            <a:ext cx="9143640" cy="143640"/>
          </a:xfrm>
          <a:prstGeom prst="rect">
            <a:avLst/>
          </a:prstGeom>
          <a:ln w="0">
            <a:noFill/>
          </a:ln>
        </p:spPr>
      </p:pic>
      <p:pic>
        <p:nvPicPr>
          <p:cNvPr id="80" name="図 2" descr="H:\共有\仕事\桧垣研PPTテンプレ\upper.png"/>
          <p:cNvPicPr/>
          <p:nvPr/>
        </p:nvPicPr>
        <p:blipFill>
          <a:blip r:embed="rId3"/>
          <a:stretch/>
        </p:blipFill>
        <p:spPr>
          <a:xfrm>
            <a:off x="-3240" y="0"/>
            <a:ext cx="9145080" cy="550440"/>
          </a:xfrm>
          <a:prstGeom prst="rect">
            <a:avLst/>
          </a:prstGeom>
          <a:ln w="0">
            <a:noFill/>
          </a:ln>
        </p:spPr>
      </p:pic>
      <p:sp>
        <p:nvSpPr>
          <p:cNvPr id="81" name="Text Box 4"/>
          <p:cNvSpPr/>
          <p:nvPr/>
        </p:nvSpPr>
        <p:spPr>
          <a:xfrm>
            <a:off x="10044720" y="245520"/>
            <a:ext cx="925200" cy="6948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fld id="{63BD4453-2E1F-4EC8-B80E-8D6CE74CF3C0}" type="slidenum"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&lt;番号&gt;</a:t>
            </a:fld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/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ja-JP" sz="20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マスター タイトルの書式設定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fac090"/>
              </a:buClr>
              <a:buFont typeface="Wingdings" charset="2"/>
              <a:buChar char=""/>
            </a:pPr>
            <a:r>
              <a:rPr b="0" lang="ja-JP" sz="3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3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 </a:t>
            </a:r>
            <a:r>
              <a:rPr b="0" lang="ja-JP" sz="2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8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 </a:t>
            </a: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4 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Wingdings" charset="2"/>
              <a:buChar char=""/>
            </a:pP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 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5 </a:t>
            </a:r>
            <a:r>
              <a:rPr b="0" lang="ja-JP" sz="20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レベル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ja-JP" sz="1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マスター テキストの書式設定</a:t>
            </a:r>
            <a:endParaRPr b="0" lang="en-US" sz="14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43640" cy="1469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ja-JP" sz="3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車車間通信を用いた衝突回避実験</a:t>
            </a:r>
            <a:endParaRPr b="0" lang="en-US" sz="3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1371600" y="3716280"/>
            <a:ext cx="6400440" cy="1752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 algn="ctr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第四回：衝突回避実験・レポート注意事項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en-US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 </a:t>
            </a: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パラメータを設定する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DIST_TO_INTERSECTION_ENTRY_MM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交差点進入位置までの距離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[mm]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DIST_TO_INTERSECTION_EXIT_MM 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交差点退出位置までの距離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[mm]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SPEED_THRESHOLD_CM_S 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到着時間を計算する際の速度閾値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[cm/s]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PID_KP_DEFAULT / PID_KI_DEFAULT / PID_KD_DEFAULT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前回の「車両走行実験」で決定した値を設定する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TIME_MARGIN_US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交差点での衝突回避判定に用いる時間的な余裕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[μs]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indent="0">
              <a:lnSpc>
                <a:spcPct val="100000"/>
              </a:lnSpc>
              <a:spcBef>
                <a:spcPts val="439"/>
              </a:spcBef>
              <a:buNone/>
            </a:pP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indent="0">
              <a:lnSpc>
                <a:spcPct val="100000"/>
              </a:lnSpc>
              <a:spcBef>
                <a:spcPts val="439"/>
              </a:spcBef>
              <a:buNone/>
            </a:pP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1. config.hpp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の設定 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sldNum" idx="2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1/13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実験の流れ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コース・パラメータ設定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Connect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（シリアル通信を開始）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collision_flag =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ON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に設定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START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（計測を開始）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台の車両を走行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衝突を確認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FINISH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（計測を終了）→ ログ確認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collision_flag = OFF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に設定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START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（計測を開始）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台の車両を走行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衝突回避を確認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FINISH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（計測を終了）→ ログ確認 →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Disconnect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2. 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実験の流れ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sldNum" idx="3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6/13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実験で確認すること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台の車両が交差点へ進入する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車両同士が衝突する場合／回避する場合の挙動を確認する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設定した条件で適切に回避できているかを確認する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車両間のネゴシエーション（交渉）の評価を行う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2.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実験の流れ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sldNum" idx="4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7/13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実験機器・試料について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ESP32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の製造番号には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MAC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アドレス を用いる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MAC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アドレスは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env:test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を実行し，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ESP32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を実験モニタ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0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に接続することで取得できる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3. 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レポート作成にあたっての注意事項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5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8/13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第一実験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付録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穴埋めを行ったプログラムをすべて付録に示す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indent="0">
              <a:lnSpc>
                <a:spcPct val="100000"/>
              </a:lnSpc>
              <a:spcBef>
                <a:spcPts val="439"/>
              </a:spcBef>
              <a:buNone/>
            </a:pP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本文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Peer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登録前の通信結果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Peer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登録後の通信結果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Peer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登録前後の結果から，通信できたか否かを示す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必要に応じて，通信時のシリアルモニタ等の画面・ログを掲載する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4.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レポート作成にあたっての注意事項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sldNum" idx="6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9/13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第二実験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付録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作成した 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calculate_pid_pwm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関数（関数のみでよい）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indent="0">
              <a:lnSpc>
                <a:spcPct val="100000"/>
              </a:lnSpc>
              <a:spcBef>
                <a:spcPts val="439"/>
              </a:spcBef>
              <a:buNone/>
            </a:pP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本文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設計した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PID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ゲイン（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Kp, Ki, Kd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）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車両の速度情報のグラフ（速度プロファイル，目標速度と実速度の比較）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立ち上がり・収束・オーバーシュート等の応答についての評価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PID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制御による速度追従性についての評価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4.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レポート作成にあたっての注意事項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7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10/13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第三実験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本文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結果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1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：衝突制御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速度プロファイル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交差点占有区間のタイムライン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ネゴシエーション結果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結果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：衝突回避制御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速度プロファイル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交差点占有区間のタイムライン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ネゴシエーション結果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→ 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いずれもグラフを掲載し，それぞれについて評価する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4.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レポート作成にあたっての注意事項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8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11/13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/>
          </p:nvPr>
        </p:nvSpPr>
        <p:spPr>
          <a:xfrm>
            <a:off x="250920" y="548640"/>
            <a:ext cx="8892720" cy="5666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f8a764"/>
              </a:buClr>
              <a:buFont typeface="Wingdings" charset="2"/>
              <a:buChar char=""/>
            </a:pPr>
            <a:r>
              <a:rPr b="0" lang="ja-JP" sz="24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考察について</a:t>
            </a:r>
            <a:endParaRPr b="0" lang="en-US" sz="24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考察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1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・考察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2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について，あわせて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1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ページ以上の考察を記述する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39"/>
              </a:spcBef>
              <a:buClr>
                <a:srgbClr val="604a7b"/>
              </a:buClr>
              <a:buFont typeface="Arial"/>
              <a:buChar char="–"/>
            </a:pP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考察</a:t>
            </a:r>
            <a:r>
              <a:rPr b="0" lang="en-US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3</a:t>
            </a:r>
            <a:r>
              <a:rPr b="0" lang="ja-JP" sz="22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は任意とする</a:t>
            </a:r>
            <a:endParaRPr b="0" lang="en-US" sz="2200" spc="-1" strike="noStrike">
              <a:solidFill>
                <a:schemeClr val="dk1"/>
              </a:solidFill>
              <a:latin typeface="Times New Roman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250920" y="0"/>
            <a:ext cx="8569080" cy="548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4.</a:t>
            </a:r>
            <a:r>
              <a:rPr b="0" lang="ja-JP" sz="3600" spc="-1" strike="noStrike">
                <a:solidFill>
                  <a:schemeClr val="lt1"/>
                </a:solidFill>
                <a:latin typeface="Times New Roman"/>
                <a:ea typeface="ＭＳ Ｐゴシック"/>
              </a:rPr>
              <a:t>レポート作成にあたっての注意事項</a:t>
            </a:r>
            <a:endParaRPr b="0" lang="en-US" sz="3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0" y="6357960"/>
            <a:ext cx="9143640" cy="49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1" lang="en-US" sz="2400" spc="-1" strike="noStrike" u="sng">
              <a:solidFill>
                <a:srgbClr val="ff0000"/>
              </a:solidFill>
              <a:uFillTx/>
              <a:latin typeface="Times New Roman"/>
              <a:ea typeface="ＭＳ Ｐゴシック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 type="sldNum" idx="9"/>
          </p:nvPr>
        </p:nvSpPr>
        <p:spPr>
          <a:xfrm>
            <a:off x="8065440" y="81720"/>
            <a:ext cx="89748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chemeClr val="lt1"/>
                </a:solidFill>
                <a:latin typeface="Arial"/>
                <a:ea typeface="ＭＳ Ｐゴシック"/>
              </a:rPr>
              <a:t>12/13</a:t>
            </a:r>
            <a:endParaRPr b="0" lang="en-US" sz="18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1_標準デザイン">
  <a:themeElements>
    <a:clrScheme name="ユーザー定義 2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標準デザイン">
      <a:majorFont>
        <a:latin typeface="Times New Roman" pitchFamily="0" charset="1"/>
        <a:ea typeface="ＭＳ Ｐゴシック" pitchFamily="0" charset="1"/>
        <a:cs typeface=""/>
      </a:majorFont>
      <a:minorFont>
        <a:latin typeface="Arial" pitchFamily="0" charset="1"/>
        <a:ea typeface="ＭＳ Ｐゴシック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14251</TotalTime>
  <Application>LibreOffice/24.2.7.2$Linux_X86_64 LibreOffice_project/420$Build-2</Application>
  <AppVersion>15.0000</AppVersion>
  <Words>510</Words>
  <Paragraphs>82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2025-05-02T01:57:51Z</dcterms:created>
  <dc:creator>のれい DAZU</dc:creator>
  <dc:description/>
  <dc:language>ja-JP</dc:language>
  <cp:lastModifiedBy/>
  <cp:lastPrinted>2025-05-16T11:39:04Z</cp:lastPrinted>
  <dcterms:modified xsi:type="dcterms:W3CDTF">2026-09-25T12:52:07Z</dcterms:modified>
  <cp:revision>113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画面に合わせる (4:3)</vt:lpwstr>
  </property>
  <property fmtid="{D5CDD505-2E9C-101B-9397-08002B2CF9AE}" pid="4" name="Slides">
    <vt:i4>9</vt:i4>
  </property>
</Properties>
</file>