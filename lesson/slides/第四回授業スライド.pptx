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68" r:id="rId2"/>
    <p:sldId id="291" r:id="rId3"/>
    <p:sldId id="296" r:id="rId4"/>
    <p:sldId id="297" r:id="rId5"/>
    <p:sldId id="298" r:id="rId6"/>
    <p:sldId id="299" r:id="rId7"/>
    <p:sldId id="300" r:id="rId8"/>
    <p:sldId id="301" r:id="rId9"/>
    <p:sldId id="302" r:id="rId10"/>
  </p:sldIdLst>
  <p:sldSz cx="9144000" cy="6858000" type="screen4x3"/>
  <p:notesSz cx="7099300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8" userDrawn="1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村木裕一郎" initials="Y.M" lastIdx="1" clrIdx="0"/>
  <p:cmAuthor id="1" name="yusuke harashima" initials="yh" lastIdx="1" clrIdx="1">
    <p:extLst>
      <p:ext uri="{19B8F6BF-5375-455C-9EA6-DF929625EA0E}">
        <p15:presenceInfo xmlns:p15="http://schemas.microsoft.com/office/powerpoint/2012/main" userId="7ba0a926a3f341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3"/>
    <a:srgbClr val="3E74C3"/>
    <a:srgbClr val="D4EBF1"/>
    <a:srgbClr val="0D0D0D"/>
    <a:srgbClr val="4A85CD"/>
    <a:srgbClr val="FFFFFF"/>
    <a:srgbClr val="4D89D0"/>
    <a:srgbClr val="79ACDA"/>
    <a:srgbClr val="FFCC00"/>
    <a:srgbClr val="C0B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73723" autoAdjust="0"/>
  </p:normalViewPr>
  <p:slideViewPr>
    <p:cSldViewPr>
      <p:cViewPr varScale="1">
        <p:scale>
          <a:sx n="74" d="100"/>
          <a:sy n="74" d="100"/>
        </p:scale>
        <p:origin x="1136" y="56"/>
      </p:cViewPr>
      <p:guideLst>
        <p:guide orient="horz" pos="28"/>
        <p:guide pos="2880"/>
      </p:guideLst>
    </p:cSldViewPr>
  </p:slideViewPr>
  <p:outlineViewPr>
    <p:cViewPr>
      <p:scale>
        <a:sx n="33" d="100"/>
        <a:sy n="33" d="100"/>
      </p:scale>
      <p:origin x="0" y="37356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804" y="72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4021301" y="4"/>
            <a:ext cx="3076363" cy="511321"/>
          </a:xfrm>
          <a:prstGeom prst="rect">
            <a:avLst/>
          </a:prstGeom>
        </p:spPr>
        <p:txBody>
          <a:bodyPr vert="horz" lIns="94257" tIns="47129" rIns="94257" bIns="47129" rtlCol="0"/>
          <a:lstStyle>
            <a:lvl1pPr algn="r">
              <a:defRPr sz="1200"/>
            </a:lvl1pPr>
          </a:lstStyle>
          <a:p>
            <a:fld id="{8C7BBA0B-A68D-4EE2-83E5-FAFB1C656ACC}" type="datetimeFigureOut">
              <a:rPr kumimoji="1" lang="ja-JP" altLang="en-US" smtClean="0"/>
              <a:pPr/>
              <a:t>2026/9/25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6" y="9721664"/>
            <a:ext cx="3076363" cy="511321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4021301" y="9721664"/>
            <a:ext cx="3076363" cy="511321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r">
              <a:defRPr sz="1200"/>
            </a:lvl1pPr>
          </a:lstStyle>
          <a:p>
            <a:fld id="{24B182B5-B6A0-49CE-A2E2-968892979931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6" name="ヘッダー プレースホルダー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780" cy="513883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338445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6" y="6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4021301" y="6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/>
          <a:lstStyle>
            <a:lvl1pPr algn="r">
              <a:defRPr sz="1200"/>
            </a:lvl1pPr>
          </a:lstStyle>
          <a:p>
            <a:fld id="{699216BF-253C-4E27-8018-966494AB97EF}" type="datetimeFigureOut">
              <a:rPr kumimoji="1" lang="ja-JP" altLang="en-US" smtClean="0"/>
              <a:pPr/>
              <a:t>2026/9/25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57" tIns="47129" rIns="94257" bIns="47129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709931" y="4861447"/>
            <a:ext cx="5679440" cy="4605576"/>
          </a:xfrm>
          <a:prstGeom prst="rect">
            <a:avLst/>
          </a:prstGeom>
        </p:spPr>
        <p:txBody>
          <a:bodyPr vert="horz" lIns="94257" tIns="47129" rIns="94257" bIns="47129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6" y="9721112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4021301" y="9721112"/>
            <a:ext cx="3076363" cy="511729"/>
          </a:xfrm>
          <a:prstGeom prst="rect">
            <a:avLst/>
          </a:prstGeom>
        </p:spPr>
        <p:txBody>
          <a:bodyPr vert="horz" lIns="94257" tIns="47129" rIns="94257" bIns="47129" rtlCol="0" anchor="b"/>
          <a:lstStyle>
            <a:lvl1pPr algn="r">
              <a:defRPr sz="1200"/>
            </a:lvl1pPr>
          </a:lstStyle>
          <a:p>
            <a:fld id="{5817ECBD-6D08-43EC-82FD-B322C687D9E5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226421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 sz="5000" dirty="0"/>
          </a:p>
        </p:txBody>
      </p:sp>
    </p:spTree>
    <p:extLst>
      <p:ext uri="{BB962C8B-B14F-4D97-AF65-F5344CB8AC3E}">
        <p14:creationId xmlns:p14="http://schemas.microsoft.com/office/powerpoint/2010/main" val="984395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177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16338"/>
            <a:ext cx="64008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pic>
        <p:nvPicPr>
          <p:cNvPr id="5" name="図 3" descr="C:\Users\oneda\Desktop\logo_jp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963" y="1052736"/>
            <a:ext cx="3057525" cy="42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2" descr="H:\共有\仕事\桧垣研PPTテンプレ\upper.png"/>
          <p:cNvPicPr>
            <a:picLocks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6" y="0"/>
            <a:ext cx="9147176" cy="5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51520" y="1052736"/>
            <a:ext cx="3528392" cy="4709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準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250825" y="548680"/>
            <a:ext cx="8712200" cy="5666402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50825" y="0"/>
            <a:ext cx="8569325" cy="548680"/>
          </a:xfrm>
        </p:spPr>
        <p:txBody>
          <a:bodyPr/>
          <a:lstStyle>
            <a:lvl1pPr>
              <a:defRPr u="none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10"/>
          </p:nvPr>
        </p:nvSpPr>
        <p:spPr>
          <a:xfrm>
            <a:off x="1" y="6357958"/>
            <a:ext cx="9144000" cy="500042"/>
          </a:xfrm>
        </p:spPr>
        <p:txBody>
          <a:bodyPr/>
          <a:lstStyle>
            <a:lvl1pPr algn="ctr">
              <a:buFontTx/>
              <a:buNone/>
              <a:defRPr b="1" u="sng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algn="ctr">
              <a:buFontTx/>
              <a:buNone/>
              <a:defRPr>
                <a:solidFill>
                  <a:schemeClr val="bg1"/>
                </a:solidFill>
              </a:defRPr>
            </a:lvl2pPr>
            <a:lvl3pPr algn="ctr">
              <a:buFontTx/>
              <a:buNone/>
              <a:defRPr>
                <a:solidFill>
                  <a:schemeClr val="bg1"/>
                </a:solidFill>
              </a:defRPr>
            </a:lvl3pPr>
            <a:lvl4pPr algn="ctr">
              <a:buFontTx/>
              <a:buNone/>
              <a:defRPr>
                <a:solidFill>
                  <a:schemeClr val="bg1"/>
                </a:solidFill>
              </a:defRPr>
            </a:lvl4pPr>
            <a:lvl5pPr algn="ctr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1">
            <a:extLst>
              <a:ext uri="{FF2B5EF4-FFF2-40B4-BE49-F238E27FC236}">
                <a16:creationId xmlns:a16="http://schemas.microsoft.com/office/drawing/2014/main" id="{94173962-B6D2-4C6D-B388-98B5CF7217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65303" y="81886"/>
            <a:ext cx="897722" cy="3849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/</a:t>
            </a:r>
            <a:endParaRPr lang="ja-JP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857496"/>
            <a:ext cx="7772400" cy="1500187"/>
          </a:xfrm>
        </p:spPr>
        <p:txBody>
          <a:bodyPr anchor="ctr" anchorCtr="0"/>
          <a:lstStyle>
            <a:lvl1pPr marL="0" indent="0" algn="ctr">
              <a:buNone/>
              <a:defRPr sz="36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黒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79900" cy="568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83125" y="981075"/>
            <a:ext cx="4279900" cy="568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476672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/>
          </p:nvPr>
        </p:nvSpPr>
        <p:spPr>
          <a:xfrm>
            <a:off x="250825" y="548680"/>
            <a:ext cx="8712200" cy="864096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1"/>
          </p:nvPr>
        </p:nvSpPr>
        <p:spPr>
          <a:xfrm>
            <a:off x="251520" y="1412776"/>
            <a:ext cx="4392488" cy="5328592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2"/>
          </p:nvPr>
        </p:nvSpPr>
        <p:spPr>
          <a:xfrm>
            <a:off x="4644008" y="1412776"/>
            <a:ext cx="4320480" cy="5328592"/>
          </a:xfrm>
          <a:noFill/>
        </p:spPr>
        <p:txBody>
          <a:bodyPr/>
          <a:lstStyle>
            <a:lvl1pPr>
              <a:buClr>
                <a:srgbClr val="F8A764"/>
              </a:buClr>
              <a:defRPr sz="24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ja-JP" altLang="en-US" noProof="0"/>
              <a:t>アイコンをクリックして図を追加</a:t>
            </a:r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784975" y="185738"/>
            <a:ext cx="2178050" cy="648493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250825" y="185738"/>
            <a:ext cx="6381750" cy="648493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タイトル、テキスト、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67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611188" y="996950"/>
            <a:ext cx="3848100" cy="4953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quarter" idx="2"/>
          </p:nvPr>
        </p:nvSpPr>
        <p:spPr>
          <a:xfrm>
            <a:off x="4611688" y="996950"/>
            <a:ext cx="3848100" cy="24003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3"/>
          </p:nvPr>
        </p:nvSpPr>
        <p:spPr>
          <a:xfrm>
            <a:off x="4611688" y="3549650"/>
            <a:ext cx="3848100" cy="24003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-24"/>
            <a:ext cx="8569325" cy="548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pic>
        <p:nvPicPr>
          <p:cNvPr id="7" name="Picture 2" descr="C:\Users\Takehiro Kawai\Documents\研究室\under_no.png"/>
          <p:cNvPicPr>
            <a:picLocks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" y="6741367"/>
            <a:ext cx="9143999" cy="144000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620688"/>
            <a:ext cx="8712200" cy="604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 err="1"/>
              <a:t>あどほっく</a:t>
            </a:r>
            <a:r>
              <a:rPr lang="ja-JP" altLang="en-US" dirty="0"/>
              <a:t>ねっと</a:t>
            </a:r>
            <a:r>
              <a:rPr lang="ja-JP" altLang="en-US" dirty="0" err="1"/>
              <a:t>わー</a:t>
            </a:r>
            <a:r>
              <a:rPr lang="ja-JP" altLang="en-US" dirty="0"/>
              <a:t>くってなに？</a:t>
            </a:r>
          </a:p>
          <a:p>
            <a:pPr lvl="1"/>
            <a:r>
              <a:rPr lang="ja-JP" altLang="en-US" dirty="0"/>
              <a:t>きっとじつようかされない</a:t>
            </a:r>
          </a:p>
          <a:p>
            <a:pPr lvl="2"/>
            <a:r>
              <a:rPr lang="ja-JP" altLang="en-US" dirty="0"/>
              <a:t>がんばれ</a:t>
            </a:r>
          </a:p>
          <a:p>
            <a:pPr lvl="3"/>
            <a:r>
              <a:rPr lang="ja-JP" altLang="en-US" dirty="0"/>
              <a:t>がんばれ</a:t>
            </a:r>
          </a:p>
          <a:p>
            <a:pPr lvl="4"/>
            <a:r>
              <a:rPr lang="ja-JP" altLang="en-US" dirty="0"/>
              <a:t>めがね</a:t>
            </a:r>
          </a:p>
        </p:txBody>
      </p:sp>
      <p:pic>
        <p:nvPicPr>
          <p:cNvPr id="8" name="図 2" descr="H:\共有\仕事\桧垣研PPTテンプレ\upper.png"/>
          <p:cNvPicPr>
            <a:picLocks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9145305" cy="55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4"/>
          <p:cNvSpPr txBox="1">
            <a:spLocks noChangeArrowheads="1"/>
          </p:cNvSpPr>
          <p:nvPr userDrawn="1"/>
        </p:nvSpPr>
        <p:spPr bwMode="auto">
          <a:xfrm>
            <a:off x="10044608" y="245365"/>
            <a:ext cx="925513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fld id="{32C65B3F-ECF2-4CE7-B960-343D94B4668B}" type="slidenum">
              <a:rPr lang="en-US" altLang="ja-JP" sz="1800" smtClean="0">
                <a:solidFill>
                  <a:schemeClr val="bg1"/>
                </a:solidFill>
              </a:rPr>
              <a:pPr>
                <a:spcBef>
                  <a:spcPct val="50000"/>
                </a:spcBef>
                <a:defRPr/>
              </a:pPr>
              <a:t>‹#›</a:t>
            </a:fld>
            <a:r>
              <a:rPr lang="en-US" altLang="ja-JP" sz="1800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1D716CE9-507E-40EA-A884-A59300959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44408" y="91765"/>
            <a:ext cx="897722" cy="38490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altLang="ja-JP" dirty="0"/>
              <a:t>/</a:t>
            </a:r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75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6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u="none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600" u="sng">
          <a:solidFill>
            <a:schemeClr val="tx2"/>
          </a:solidFill>
          <a:latin typeface="Times New Roman" pitchFamily="18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6">
            <a:lumMod val="60000"/>
            <a:lumOff val="40000"/>
          </a:schemeClr>
        </a:buClr>
        <a:buSzPct val="100000"/>
        <a:buFont typeface="Wingdings" pitchFamily="2" charset="2"/>
        <a:buChar char="n"/>
        <a:defRPr kumimoji="1" sz="2400">
          <a:solidFill>
            <a:schemeClr val="tx1"/>
          </a:solidFill>
          <a:latin typeface="+mj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4">
            <a:lumMod val="75000"/>
          </a:schemeClr>
        </a:buClr>
        <a:buFont typeface="Arial" charset="0"/>
        <a:buChar char="–"/>
        <a:defRPr kumimoji="1" sz="2200">
          <a:solidFill>
            <a:schemeClr val="tx1"/>
          </a:solidFill>
          <a:latin typeface="+mj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200">
          <a:solidFill>
            <a:schemeClr val="tx1"/>
          </a:solidFill>
          <a:latin typeface="+mj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200">
          <a:solidFill>
            <a:schemeClr val="tx1"/>
          </a:solidFill>
          <a:latin typeface="+mj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200">
          <a:solidFill>
            <a:schemeClr val="tx1"/>
          </a:solidFill>
          <a:latin typeface="+mj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$"/>
        <a:defRPr kumimoji="1" sz="24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/>
          <a:lstStyle/>
          <a:p>
            <a:r>
              <a:rPr lang="ja-JP" altLang="en-US" sz="3200" dirty="0"/>
              <a:t>車車間通信を用いた衝突回避実験</a:t>
            </a:r>
            <a:endParaRPr lang="en-US" altLang="ja-JP" sz="3200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第四回：衝突回避実験・レポート注意事項</a:t>
            </a:r>
            <a:endParaRPr lang="en-US" altLang="ja-JP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 パラメータを設定する</a:t>
            </a:r>
            <a:endParaRPr lang="en-US" altLang="ja-JP" dirty="0"/>
          </a:p>
          <a:p>
            <a:pPr lvl="1"/>
            <a:r>
              <a:rPr lang="ja-JP" altLang="en-US" dirty="0"/>
              <a:t>DIST_TO_INTERSECTION_ENTRY_MM</a:t>
            </a:r>
            <a:endParaRPr lang="en-US" altLang="ja-JP" dirty="0"/>
          </a:p>
          <a:p>
            <a:pPr lvl="2"/>
            <a:r>
              <a:rPr lang="ja-JP" altLang="en-US" dirty="0"/>
              <a:t>交差点進入位置までの距離 [mm]</a:t>
            </a:r>
            <a:endParaRPr lang="en-US" altLang="ja-JP" dirty="0"/>
          </a:p>
          <a:p>
            <a:pPr lvl="1"/>
            <a:r>
              <a:rPr lang="ja-JP" altLang="en-US" dirty="0"/>
              <a:t>DIST_TO_INTERSECTION_EXIT_MM </a:t>
            </a:r>
            <a:endParaRPr lang="en-US" altLang="ja-JP" dirty="0"/>
          </a:p>
          <a:p>
            <a:pPr lvl="2"/>
            <a:r>
              <a:rPr lang="ja-JP" altLang="en-US" dirty="0"/>
              <a:t>交差点退出位置までの距離 [mm]</a:t>
            </a:r>
            <a:endParaRPr lang="en-US" altLang="ja-JP" dirty="0"/>
          </a:p>
          <a:p>
            <a:pPr lvl="1"/>
            <a:r>
              <a:rPr lang="ja-JP" altLang="en-US" dirty="0"/>
              <a:t>SPEED_THRESHOLD_CM_S </a:t>
            </a:r>
            <a:endParaRPr lang="en-US" altLang="ja-JP" dirty="0"/>
          </a:p>
          <a:p>
            <a:pPr lvl="2"/>
            <a:r>
              <a:rPr lang="ja-JP" altLang="en-US" dirty="0"/>
              <a:t>到着時間を計算する際の速度閾値 [cm/s]</a:t>
            </a:r>
            <a:endParaRPr lang="en-US" altLang="ja-JP" dirty="0"/>
          </a:p>
          <a:p>
            <a:pPr lvl="1"/>
            <a:r>
              <a:rPr lang="ja-JP" altLang="en-US" dirty="0"/>
              <a:t>PID_KP_DEFAULT / PID_KI_DEFAULT / PID_KD_DEFAULT</a:t>
            </a:r>
            <a:endParaRPr lang="en-US" altLang="ja-JP" dirty="0"/>
          </a:p>
          <a:p>
            <a:pPr lvl="2"/>
            <a:r>
              <a:rPr lang="ja-JP" altLang="en-US" dirty="0"/>
              <a:t>前回の「車両走行実験」で決定した値を設定する</a:t>
            </a:r>
            <a:endParaRPr lang="en-US" altLang="ja-JP" dirty="0"/>
          </a:p>
          <a:p>
            <a:pPr lvl="1"/>
            <a:r>
              <a:rPr lang="ja-JP" altLang="en-US" dirty="0"/>
              <a:t>TIME_MARGIN_US</a:t>
            </a:r>
            <a:endParaRPr lang="en-US" altLang="ja-JP" dirty="0"/>
          </a:p>
          <a:p>
            <a:pPr lvl="2"/>
            <a:r>
              <a:rPr lang="ja-JP" altLang="en-US" dirty="0"/>
              <a:t>交差点での衝突回避判定に用いる時間的な余裕 [μs]</a:t>
            </a:r>
            <a:endParaRPr lang="en-US" altLang="ja-JP" dirty="0"/>
          </a:p>
          <a:p>
            <a:pPr lvl="2"/>
            <a:endParaRPr lang="en-US" altLang="ja-JP" dirty="0"/>
          </a:p>
          <a:p>
            <a:pPr lvl="1"/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1. config.hppの設定 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1/13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実験の流れ</a:t>
            </a:r>
            <a:endParaRPr lang="en-US" altLang="ja-JP" dirty="0"/>
          </a:p>
          <a:p>
            <a:pPr lvl="1"/>
            <a:r>
              <a:rPr lang="ja-JP" altLang="en-US" dirty="0"/>
              <a:t>コース・パラメータ設定</a:t>
            </a:r>
            <a:endParaRPr lang="en-US" altLang="ja-JP" dirty="0"/>
          </a:p>
          <a:p>
            <a:pPr lvl="1"/>
            <a:r>
              <a:rPr lang="ja-JP" altLang="en-US" dirty="0"/>
              <a:t>Connect（シリアル通信を開始）</a:t>
            </a:r>
            <a:endParaRPr lang="en-US" altLang="ja-JP" dirty="0"/>
          </a:p>
          <a:p>
            <a:pPr lvl="1"/>
            <a:r>
              <a:rPr lang="ja-JP" altLang="en-US" dirty="0"/>
              <a:t>collision_flag = </a:t>
            </a:r>
            <a:r>
              <a:rPr lang="en-US" altLang="ja-JP" dirty="0"/>
              <a:t>ON</a:t>
            </a:r>
            <a:r>
              <a:rPr lang="ja-JP" altLang="en-US" dirty="0"/>
              <a:t> に設定</a:t>
            </a:r>
            <a:endParaRPr lang="en-US" altLang="ja-JP" dirty="0"/>
          </a:p>
          <a:p>
            <a:pPr lvl="1"/>
            <a:r>
              <a:rPr lang="ja-JP" altLang="en-US" dirty="0"/>
              <a:t>START（計測を開始）</a:t>
            </a:r>
            <a:endParaRPr lang="en-US" altLang="ja-JP" dirty="0"/>
          </a:p>
          <a:p>
            <a:pPr lvl="1"/>
            <a:r>
              <a:rPr lang="ja-JP" altLang="en-US" dirty="0"/>
              <a:t>2台の車両を走行</a:t>
            </a:r>
            <a:endParaRPr lang="en-US" altLang="ja-JP" dirty="0"/>
          </a:p>
          <a:p>
            <a:pPr lvl="1"/>
            <a:r>
              <a:rPr lang="ja-JP" altLang="en-US" dirty="0"/>
              <a:t>衝突を確認</a:t>
            </a:r>
            <a:endParaRPr lang="en-US" altLang="ja-JP" dirty="0"/>
          </a:p>
          <a:p>
            <a:pPr lvl="1"/>
            <a:r>
              <a:rPr lang="ja-JP" altLang="en-US" dirty="0"/>
              <a:t>FINISH（計測を終了）→ ログ確認</a:t>
            </a:r>
            <a:endParaRPr lang="en-US" altLang="ja-JP" dirty="0"/>
          </a:p>
          <a:p>
            <a:pPr lvl="1"/>
            <a:r>
              <a:rPr lang="ja-JP" altLang="en-US" dirty="0"/>
              <a:t>collision_flag = OFF に設定</a:t>
            </a:r>
            <a:endParaRPr lang="en-US" altLang="ja-JP" dirty="0"/>
          </a:p>
          <a:p>
            <a:pPr lvl="1"/>
            <a:r>
              <a:rPr lang="ja-JP" altLang="en-US" dirty="0"/>
              <a:t>START（計測を開始）</a:t>
            </a:r>
            <a:endParaRPr lang="en-US" altLang="ja-JP" dirty="0"/>
          </a:p>
          <a:p>
            <a:pPr lvl="1"/>
            <a:r>
              <a:rPr lang="ja-JP" altLang="en-US" dirty="0"/>
              <a:t>2台の車両を走行</a:t>
            </a:r>
            <a:endParaRPr lang="en-US" altLang="ja-JP" dirty="0"/>
          </a:p>
          <a:p>
            <a:pPr lvl="1"/>
            <a:r>
              <a:rPr lang="ja-JP" altLang="en-US" dirty="0"/>
              <a:t>衝突回避を確認</a:t>
            </a:r>
            <a:endParaRPr lang="en-US" altLang="ja-JP" dirty="0"/>
          </a:p>
          <a:p>
            <a:pPr lvl="1"/>
            <a:r>
              <a:rPr lang="ja-JP" altLang="en-US" dirty="0"/>
              <a:t>FINISH（計測を終了）→ ログ確認 → Disconnect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2. 実験の流れ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6/13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実験で確認すること</a:t>
            </a:r>
            <a:endParaRPr lang="en-US" altLang="ja-JP" dirty="0"/>
          </a:p>
          <a:p>
            <a:pPr lvl="1"/>
            <a:r>
              <a:rPr lang="ja-JP" altLang="en-US" dirty="0"/>
              <a:t>2台の車両が交差点へ進入する</a:t>
            </a:r>
            <a:endParaRPr lang="en-US" altLang="ja-JP" dirty="0"/>
          </a:p>
          <a:p>
            <a:pPr lvl="1"/>
            <a:r>
              <a:rPr lang="ja-JP" altLang="en-US" dirty="0"/>
              <a:t>車両同士が衝突する場合／回避する場合の挙動を確認する</a:t>
            </a:r>
            <a:endParaRPr lang="en-US" altLang="ja-JP" dirty="0"/>
          </a:p>
          <a:p>
            <a:pPr lvl="1"/>
            <a:r>
              <a:rPr lang="ja-JP" altLang="en-US" dirty="0"/>
              <a:t>設定した条件で適切に回避できているかを確認する</a:t>
            </a:r>
            <a:endParaRPr lang="en-US" altLang="ja-JP" dirty="0"/>
          </a:p>
          <a:p>
            <a:pPr lvl="1"/>
            <a:r>
              <a:rPr lang="ja-JP" altLang="en-US" dirty="0"/>
              <a:t>車両間のネゴシエーション（交渉）の評価を行う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2.実験の流れ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7/13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実験機器・試料について</a:t>
            </a:r>
            <a:endParaRPr lang="en-US" altLang="ja-JP" dirty="0"/>
          </a:p>
          <a:p>
            <a:pPr lvl="1"/>
            <a:r>
              <a:rPr lang="ja-JP" altLang="en-US" dirty="0"/>
              <a:t>ESP32の製造番号には MACアドレス を用いる</a:t>
            </a:r>
            <a:endParaRPr lang="en-US" altLang="ja-JP" dirty="0"/>
          </a:p>
          <a:p>
            <a:pPr lvl="1"/>
            <a:r>
              <a:rPr lang="ja-JP" altLang="en-US" dirty="0"/>
              <a:t>MACアドレスは env:get_mac_address を実行し，ESP32をモニタ等に接続することで取得できる</a:t>
            </a:r>
            <a:endParaRPr lang="en-US" altLang="ja-JP" dirty="0"/>
          </a:p>
          <a:p>
            <a:endParaRPr kumimoji="1"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3. レポート作成にあたっての注意事項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8/13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第一実験</a:t>
            </a:r>
            <a:endParaRPr lang="en-US" altLang="ja-JP" dirty="0"/>
          </a:p>
          <a:p>
            <a:pPr lvl="1"/>
            <a:r>
              <a:rPr lang="ja-JP" altLang="en-US" dirty="0"/>
              <a:t>付録</a:t>
            </a:r>
            <a:endParaRPr lang="en-US" altLang="ja-JP" dirty="0"/>
          </a:p>
          <a:p>
            <a:pPr lvl="2"/>
            <a:r>
              <a:rPr lang="ja-JP" altLang="en-US" dirty="0"/>
              <a:t>穴埋めを行ったプログラムをすべて付録に示す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lang="ja-JP" altLang="en-US" dirty="0"/>
              <a:t>本文</a:t>
            </a:r>
            <a:endParaRPr lang="en-US" altLang="ja-JP" dirty="0"/>
          </a:p>
          <a:p>
            <a:pPr lvl="2"/>
            <a:r>
              <a:rPr lang="ja-JP" altLang="en-US" dirty="0"/>
              <a:t>Peer登録前の通信結果</a:t>
            </a:r>
            <a:endParaRPr lang="en-US" altLang="ja-JP" dirty="0"/>
          </a:p>
          <a:p>
            <a:pPr lvl="2"/>
            <a:r>
              <a:rPr lang="ja-JP" altLang="en-US" dirty="0"/>
              <a:t>Peer登録後の通信結果</a:t>
            </a:r>
            <a:endParaRPr lang="en-US" altLang="ja-JP" dirty="0"/>
          </a:p>
          <a:p>
            <a:pPr lvl="2"/>
            <a:r>
              <a:rPr lang="ja-JP" altLang="en-US" dirty="0"/>
              <a:t>Peer登録前後の結果から，通信できたか否かを示す</a:t>
            </a:r>
            <a:endParaRPr lang="en-US" altLang="ja-JP" dirty="0"/>
          </a:p>
          <a:p>
            <a:pPr lvl="2"/>
            <a:r>
              <a:rPr lang="ja-JP" altLang="en-US" dirty="0"/>
              <a:t>必要に応じて，通信時のシリアルモニタ等の画面・ログを掲載する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4.レポート作成にあたっての注意事項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9/13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第二実験</a:t>
            </a:r>
            <a:endParaRPr lang="en-US" altLang="ja-JP" dirty="0"/>
          </a:p>
          <a:p>
            <a:pPr lvl="1"/>
            <a:r>
              <a:rPr lang="ja-JP" altLang="en-US" dirty="0"/>
              <a:t>付録</a:t>
            </a:r>
            <a:endParaRPr lang="en-US" altLang="ja-JP" dirty="0"/>
          </a:p>
          <a:p>
            <a:pPr lvl="2"/>
            <a:r>
              <a:rPr lang="ja-JP" altLang="en-US" dirty="0"/>
              <a:t>作成した calculate_pid_pwm 関数（関数のみでよい）</a:t>
            </a:r>
            <a:endParaRPr lang="en-US" altLang="ja-JP" dirty="0"/>
          </a:p>
          <a:p>
            <a:pPr lvl="1"/>
            <a:endParaRPr kumimoji="1" lang="en-US" altLang="ja-JP" dirty="0"/>
          </a:p>
          <a:p>
            <a:pPr lvl="1"/>
            <a:r>
              <a:rPr lang="ja-JP" altLang="en-US" dirty="0"/>
              <a:t>本文</a:t>
            </a:r>
            <a:endParaRPr lang="en-US" altLang="ja-JP" dirty="0"/>
          </a:p>
          <a:p>
            <a:pPr lvl="2"/>
            <a:r>
              <a:rPr lang="ja-JP" altLang="en-US" dirty="0"/>
              <a:t>設計したPIDゲイン（Kp, Ki, Kd）</a:t>
            </a:r>
            <a:endParaRPr lang="en-US" altLang="ja-JP" dirty="0"/>
          </a:p>
          <a:p>
            <a:pPr lvl="2"/>
            <a:r>
              <a:rPr lang="ja-JP" altLang="en-US" dirty="0"/>
              <a:t>車両の速度情報のグラフ（速度プロファイル，目標速度と実速度の比較）</a:t>
            </a:r>
            <a:endParaRPr lang="en-US" altLang="ja-JP" dirty="0"/>
          </a:p>
          <a:p>
            <a:pPr lvl="2"/>
            <a:r>
              <a:rPr lang="ja-JP" altLang="en-US" dirty="0"/>
              <a:t>立ち上がり・収束・オーバーシュート等の応答についての評価</a:t>
            </a:r>
            <a:endParaRPr lang="en-US" altLang="ja-JP" dirty="0"/>
          </a:p>
          <a:p>
            <a:pPr lvl="2"/>
            <a:r>
              <a:rPr lang="ja-JP" altLang="en-US" dirty="0"/>
              <a:t>PID制御による速度追従性についての評価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4.レポート作成にあたっての注意事項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10/13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第三実験</a:t>
            </a:r>
            <a:endParaRPr lang="en-US" altLang="ja-JP" dirty="0"/>
          </a:p>
          <a:p>
            <a:pPr lvl="1"/>
            <a:r>
              <a:rPr lang="ja-JP" altLang="en-US" dirty="0"/>
              <a:t>本文</a:t>
            </a:r>
            <a:endParaRPr lang="en-US" altLang="ja-JP" dirty="0"/>
          </a:p>
          <a:p>
            <a:pPr lvl="2"/>
            <a:r>
              <a:rPr lang="ja-JP" altLang="en-US" dirty="0"/>
              <a:t>結果1：衝突制御</a:t>
            </a:r>
            <a:endParaRPr lang="en-US" altLang="ja-JP" dirty="0"/>
          </a:p>
          <a:p>
            <a:pPr lvl="3"/>
            <a:r>
              <a:rPr lang="ja-JP" altLang="en-US" dirty="0"/>
              <a:t>速度プロファイル</a:t>
            </a:r>
            <a:endParaRPr lang="en-US" altLang="ja-JP" dirty="0"/>
          </a:p>
          <a:p>
            <a:pPr lvl="3"/>
            <a:r>
              <a:rPr lang="ja-JP" altLang="en-US" dirty="0"/>
              <a:t>交差点占有区間のタイムライン</a:t>
            </a:r>
            <a:endParaRPr lang="en-US" altLang="ja-JP" dirty="0"/>
          </a:p>
          <a:p>
            <a:pPr lvl="3"/>
            <a:r>
              <a:rPr lang="ja-JP" altLang="en-US" dirty="0"/>
              <a:t>ネゴシエーション結果</a:t>
            </a:r>
            <a:endParaRPr lang="en-US" altLang="ja-JP" dirty="0"/>
          </a:p>
          <a:p>
            <a:pPr lvl="2"/>
            <a:r>
              <a:rPr lang="ja-JP" altLang="en-US" dirty="0"/>
              <a:t>結果2：衝突回避制御</a:t>
            </a:r>
            <a:endParaRPr lang="en-US" altLang="ja-JP" dirty="0"/>
          </a:p>
          <a:p>
            <a:pPr lvl="3"/>
            <a:r>
              <a:rPr lang="ja-JP" altLang="en-US" dirty="0"/>
              <a:t>速度プロファイル</a:t>
            </a:r>
            <a:endParaRPr lang="en-US" altLang="ja-JP" dirty="0"/>
          </a:p>
          <a:p>
            <a:pPr lvl="3"/>
            <a:r>
              <a:rPr lang="ja-JP" altLang="en-US" dirty="0"/>
              <a:t>交差点占有区間のタイムライン</a:t>
            </a:r>
            <a:endParaRPr lang="en-US" altLang="ja-JP" dirty="0"/>
          </a:p>
          <a:p>
            <a:pPr lvl="3"/>
            <a:r>
              <a:rPr lang="ja-JP" altLang="en-US" dirty="0"/>
              <a:t>ネゴシエーション結果</a:t>
            </a:r>
            <a:endParaRPr lang="en-US" altLang="ja-JP" dirty="0"/>
          </a:p>
          <a:p>
            <a:pPr lvl="2"/>
            <a:r>
              <a:rPr lang="ja-JP" altLang="en-US" dirty="0"/>
              <a:t>→ いずれもグラフを掲載し，それぞれについて評価する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4.レポート作成にあたっての注意事項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11/13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8B86D-9C95-9B33-7FF8-F589CF01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9B0E18B2-A364-51C3-B6D3-94D997379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548680"/>
            <a:ext cx="8893175" cy="5666402"/>
          </a:xfrm>
        </p:spPr>
        <p:txBody>
          <a:bodyPr/>
          <a:lstStyle/>
          <a:p>
            <a:r>
              <a:rPr lang="ja-JP" altLang="en-US" dirty="0"/>
              <a:t>考察について</a:t>
            </a:r>
            <a:endParaRPr lang="en-US" altLang="ja-JP" dirty="0"/>
          </a:p>
          <a:p>
            <a:pPr lvl="1"/>
            <a:r>
              <a:rPr lang="ja-JP" altLang="en-US" dirty="0"/>
              <a:t>考察1・考察2について，あわせて1ページ以上の考察を記述する</a:t>
            </a:r>
            <a:endParaRPr lang="en-US" altLang="ja-JP" dirty="0"/>
          </a:p>
          <a:p>
            <a:pPr lvl="1"/>
            <a:r>
              <a:rPr lang="ja-JP" altLang="en-US" dirty="0"/>
              <a:t>考察</a:t>
            </a:r>
            <a:r>
              <a:rPr lang="en-US" altLang="ja-JP" dirty="0"/>
              <a:t>3</a:t>
            </a:r>
            <a:r>
              <a:rPr lang="ja-JP" altLang="en-US" dirty="0"/>
              <a:t>は任意とする</a:t>
            </a:r>
            <a:endParaRPr lang="en-US" altLang="ja-JP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32A358-E2E3-475F-2B53-EAF9ADFB9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4.レポート作成にあたっての注意事項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640F87-114E-34DE-D992-862EC58D43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69B8AD7-CA04-4EC2-ADD1-BA97B287C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altLang="ja-JP" dirty="0"/>
              <a:t>12/13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31200359"/>
      </p:ext>
    </p:extLst>
  </p:cSld>
  <p:clrMapOvr>
    <a:masterClrMapping/>
  </p:clrMapOvr>
</p:sld>
</file>

<file path=ppt/theme/theme1.xml><?xml version="1.0" encoding="utf-8"?>
<a:theme xmlns:a="http://schemas.openxmlformats.org/drawingml/2006/main" name="1_標準デザイン">
  <a:themeElements>
    <a:clrScheme name="ユーザー定義 2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_標準デザイン">
      <a:majorFont>
        <a:latin typeface="Times New Roman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chemeClr val="tx1"/>
          </a:solidFill>
          <a:round/>
          <a:headEnd/>
          <a:tailEnd/>
        </a:ln>
      </a:spPr>
      <a:bodyPr wrap="square" lIns="90000" tIns="46800" rIns="90000" bIns="46800" anchor="ctr">
        <a:noAutofit/>
      </a:bodyPr>
      <a:lstStyle>
        <a:defPPr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itchFamily="18" charset="0"/>
            <a:ea typeface="ＭＳ Ｐゴシック" charset="-128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effectLst/>
          </a:defRPr>
        </a:defPPr>
      </a:lstStyle>
    </a:txDef>
  </a:objectDefaults>
  <a:extraClrSchemeLst>
    <a:extraClrScheme>
      <a:clrScheme name="1_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プレゼンテーション1" id="{00EEFE7C-116F-48B2-A9DD-EEF3189F0313}" vid="{050E564D-F4B0-4AEC-A218-D4F56E1CC75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14251</TotalTime>
  <Words>510</Words>
  <Application>Microsoft Office PowerPoint</Application>
  <PresentationFormat>画面に合わせる (4:3)</PresentationFormat>
  <Paragraphs>82</Paragraphs>
  <Slides>9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Arial</vt:lpstr>
      <vt:lpstr>Calibri</vt:lpstr>
      <vt:lpstr>Times New Roman</vt:lpstr>
      <vt:lpstr>Wingdings</vt:lpstr>
      <vt:lpstr>1_標準デザイン</vt:lpstr>
      <vt:lpstr>車車間通信を用いた衝突回避実験</vt:lpstr>
      <vt:lpstr>1. config.hppの設定 </vt:lpstr>
      <vt:lpstr>2. 実験の流れ</vt:lpstr>
      <vt:lpstr>2.実験の流れ</vt:lpstr>
      <vt:lpstr>3. レポート作成にあたっての注意事項</vt:lpstr>
      <vt:lpstr>4.レポート作成にあたっての注意事項</vt:lpstr>
      <vt:lpstr>4.レポート作成にあたっての注意事項</vt:lpstr>
      <vt:lpstr>4.レポート作成にあたっての注意事項</vt:lpstr>
      <vt:lpstr>4.レポート作成にあたっての注意事項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のれい DAZU</dc:creator>
  <cp:lastModifiedBy>NAITO DAIKI</cp:lastModifiedBy>
  <cp:revision>111</cp:revision>
  <cp:lastPrinted>2025-05-16T11:39:04Z</cp:lastPrinted>
  <dcterms:created xsi:type="dcterms:W3CDTF">2025-05-02T01:57:51Z</dcterms:created>
  <dcterms:modified xsi:type="dcterms:W3CDTF">2026-09-25T02:29:40Z</dcterms:modified>
</cp:coreProperties>
</file>